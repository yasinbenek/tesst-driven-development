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D"/>
        </a:solidFill>
      </p:bgPr>
    </p:bg>
    <p:spTree>
      <p:nvGrpSpPr>
        <p:cNvPr id="1" name=""/>
        <p:cNvGrpSpPr/>
        <p:nvPr/>
      </p:nvGrpSpPr>
      <p:grpSpPr>
        <a:xfrm>
          <a:off x="0" y="0"/>
          <a:ext cx="0" cy="0"/>
          <a:chOff x="0" y="0"/>
          <a:chExt cx="0" cy="0"/>
        </a:xfrm>
      </p:grpSpPr>
      <p:sp>
        <p:nvSpPr>
          <p:cNvPr id="2" name="Text 0"/>
          <p:cNvSpPr/>
          <p:nvPr/>
        </p:nvSpPr>
        <p:spPr>
          <a:xfrm>
            <a:off x="548640" y="411480"/>
            <a:ext cx="8229600" cy="365760"/>
          </a:xfrm>
          <a:prstGeom prst="rect">
            <a:avLst/>
          </a:prstGeom>
          <a:noFill/>
          <a:ln/>
        </p:spPr>
        <p:txBody>
          <a:bodyPr wrap="square" lIns="0" tIns="0" rIns="0" bIns="0" rtlCol="0" anchor="ctr"/>
          <a:lstStyle/>
          <a:p>
            <a:pPr indent="0" marL="0">
              <a:buNone/>
            </a:pPr>
            <a:r>
              <a:rPr lang="en-US" sz="1100" b="1" spc="400" kern="0" dirty="0">
                <a:solidFill>
                  <a:srgbClr val="DC4F4A"/>
                </a:solidFill>
                <a:latin typeface="Consolas" pitchFamily="34" charset="0"/>
                <a:ea typeface="Consolas" pitchFamily="34" charset="-122"/>
                <a:cs typeface="Consolas" pitchFamily="34" charset="-120"/>
              </a:rPr>
              <a:t>UNIVERSITY OF SARAJEVO  ·  SOFTWARE ENGINEERING</a:t>
            </a:r>
            <a:endParaRPr lang="en-US" sz="1100" dirty="0"/>
          </a:p>
        </p:txBody>
      </p:sp>
      <p:sp>
        <p:nvSpPr>
          <p:cNvPr id="3" name="Text 1"/>
          <p:cNvSpPr/>
          <p:nvPr/>
        </p:nvSpPr>
        <p:spPr>
          <a:xfrm>
            <a:off x="548640" y="777240"/>
            <a:ext cx="8229600" cy="365760"/>
          </a:xfrm>
          <a:prstGeom prst="rect">
            <a:avLst/>
          </a:prstGeom>
          <a:noFill/>
          <a:ln/>
        </p:spPr>
        <p:txBody>
          <a:bodyPr wrap="square" lIns="0" tIns="0" rIns="0" bIns="0" rtlCol="0" anchor="ctr"/>
          <a:lstStyle/>
          <a:p>
            <a:pPr indent="0" marL="0">
              <a:buNone/>
            </a:pPr>
            <a:r>
              <a:rPr lang="en-US" sz="1000" spc="200" kern="0" dirty="0">
                <a:solidFill>
                  <a:srgbClr val="8B95A6"/>
                </a:solidFill>
                <a:latin typeface="Consolas" pitchFamily="34" charset="0"/>
                <a:ea typeface="Consolas" pitchFamily="34" charset="-122"/>
                <a:cs typeface="Consolas" pitchFamily="34" charset="-120"/>
              </a:rPr>
              <a:t>///  academic-presentation  ·  2026</a:t>
            </a:r>
            <a:endParaRPr lang="en-US" sz="1000" dirty="0"/>
          </a:p>
        </p:txBody>
      </p:sp>
      <p:sp>
        <p:nvSpPr>
          <p:cNvPr id="4" name="Text 2"/>
          <p:cNvSpPr/>
          <p:nvPr/>
        </p:nvSpPr>
        <p:spPr>
          <a:xfrm>
            <a:off x="502920" y="1554480"/>
            <a:ext cx="8229600" cy="1280160"/>
          </a:xfrm>
          <a:prstGeom prst="rect">
            <a:avLst/>
          </a:prstGeom>
          <a:noFill/>
          <a:ln/>
        </p:spPr>
        <p:txBody>
          <a:bodyPr wrap="square" lIns="0" tIns="0" rIns="0" bIns="0" rtlCol="0" anchor="ctr"/>
          <a:lstStyle/>
          <a:p>
            <a:pPr indent="0" marL="0">
              <a:buNone/>
            </a:pPr>
            <a:r>
              <a:rPr lang="en-US" sz="7600" b="1" dirty="0">
                <a:solidFill>
                  <a:srgbClr val="FFFFFF"/>
                </a:solidFill>
                <a:latin typeface="Georgia" pitchFamily="34" charset="0"/>
                <a:ea typeface="Georgia" pitchFamily="34" charset="-122"/>
                <a:cs typeface="Georgia" pitchFamily="34" charset="-120"/>
              </a:rPr>
              <a:t>Test-Driven</a:t>
            </a:r>
            <a:endParaRPr lang="en-US" sz="7600" dirty="0"/>
          </a:p>
        </p:txBody>
      </p:sp>
      <p:sp>
        <p:nvSpPr>
          <p:cNvPr id="5" name="Text 3"/>
          <p:cNvSpPr/>
          <p:nvPr/>
        </p:nvSpPr>
        <p:spPr>
          <a:xfrm>
            <a:off x="502920" y="2697480"/>
            <a:ext cx="8229600" cy="1280160"/>
          </a:xfrm>
          <a:prstGeom prst="rect">
            <a:avLst/>
          </a:prstGeom>
          <a:noFill/>
          <a:ln/>
        </p:spPr>
        <p:txBody>
          <a:bodyPr wrap="square" lIns="0" tIns="0" rIns="0" bIns="0" rtlCol="0" anchor="ctr"/>
          <a:lstStyle/>
          <a:p>
            <a:pPr indent="0" marL="0">
              <a:buNone/>
            </a:pPr>
            <a:r>
              <a:rPr lang="en-US" sz="7600" b="1" dirty="0">
                <a:solidFill>
                  <a:srgbClr val="FFFFFF"/>
                </a:solidFill>
                <a:latin typeface="Georgia" pitchFamily="34" charset="0"/>
                <a:ea typeface="Georgia" pitchFamily="34" charset="-122"/>
                <a:cs typeface="Georgia" pitchFamily="34" charset="-120"/>
              </a:rPr>
              <a:t>Development</a:t>
            </a:r>
            <a:endParaRPr lang="en-US" sz="7600" dirty="0"/>
          </a:p>
        </p:txBody>
      </p:sp>
      <p:sp>
        <p:nvSpPr>
          <p:cNvPr id="6" name="Text 4"/>
          <p:cNvSpPr/>
          <p:nvPr/>
        </p:nvSpPr>
        <p:spPr>
          <a:xfrm>
            <a:off x="548640" y="4114800"/>
            <a:ext cx="7772400" cy="822960"/>
          </a:xfrm>
          <a:prstGeom prst="rect">
            <a:avLst/>
          </a:prstGeom>
          <a:noFill/>
          <a:ln/>
        </p:spPr>
        <p:txBody>
          <a:bodyPr wrap="square" lIns="0" tIns="0" rIns="0" bIns="0" rtlCol="0" anchor="ctr"/>
          <a:lstStyle/>
          <a:p>
            <a:pPr indent="0" marL="0">
              <a:buNone/>
            </a:pPr>
            <a:r>
              <a:rPr lang="en-US" sz="1900" i="1" dirty="0">
                <a:solidFill>
                  <a:srgbClr val="DCE2EA"/>
                </a:solidFill>
                <a:latin typeface="Georgia" pitchFamily="34" charset="0"/>
                <a:ea typeface="Georgia" pitchFamily="34" charset="-122"/>
                <a:cs typeface="Georgia" pitchFamily="34" charset="-120"/>
              </a:rPr>
              <a:t>Writing the test before the code — a discipline for building</a:t>
            </a:r>
            <a:endParaRPr lang="en-US" sz="1900" dirty="0"/>
          </a:p>
          <a:p>
            <a:pPr indent="0" marL="0">
              <a:buNone/>
            </a:pPr>
            <a:r>
              <a:rPr lang="en-US" sz="1900" i="1" dirty="0">
                <a:solidFill>
                  <a:srgbClr val="DCE2EA"/>
                </a:solidFill>
                <a:latin typeface="Georgia" pitchFamily="34" charset="0"/>
                <a:ea typeface="Georgia" pitchFamily="34" charset="-122"/>
                <a:cs typeface="Georgia" pitchFamily="34" charset="-120"/>
              </a:rPr>
              <a:t>reliable, maintainable software.</a:t>
            </a:r>
            <a:endParaRPr lang="en-US" sz="1900" dirty="0"/>
          </a:p>
        </p:txBody>
      </p:sp>
      <p:sp>
        <p:nvSpPr>
          <p:cNvPr id="7" name="Shape 5"/>
          <p:cNvSpPr/>
          <p:nvPr/>
        </p:nvSpPr>
        <p:spPr>
          <a:xfrm>
            <a:off x="548640" y="5166360"/>
            <a:ext cx="640080" cy="0"/>
          </a:xfrm>
          <a:prstGeom prst="line">
            <a:avLst/>
          </a:prstGeom>
          <a:noFill/>
          <a:ln w="19050">
            <a:solidFill>
              <a:srgbClr val="DC4F4A"/>
            </a:solidFill>
            <a:prstDash val="solid"/>
          </a:ln>
        </p:spPr>
      </p:sp>
      <p:sp>
        <p:nvSpPr>
          <p:cNvPr id="8" name="Text 6"/>
          <p:cNvSpPr/>
          <p:nvPr/>
        </p:nvSpPr>
        <p:spPr>
          <a:xfrm>
            <a:off x="548640" y="5349240"/>
            <a:ext cx="3657600" cy="274320"/>
          </a:xfrm>
          <a:prstGeom prst="rect">
            <a:avLst/>
          </a:prstGeom>
          <a:noFill/>
          <a:ln/>
        </p:spPr>
        <p:txBody>
          <a:bodyPr wrap="square" lIns="0" tIns="0" rIns="0" bIns="0" rtlCol="0" anchor="ctr"/>
          <a:lstStyle/>
          <a:p>
            <a:pPr indent="0" marL="0">
              <a:buNone/>
            </a:pPr>
            <a:r>
              <a:rPr lang="en-US" sz="1000" b="1" spc="300" kern="0" dirty="0">
                <a:solidFill>
                  <a:srgbClr val="8B95A6"/>
                </a:solidFill>
                <a:latin typeface="Consolas" pitchFamily="34" charset="0"/>
                <a:ea typeface="Consolas" pitchFamily="34" charset="-122"/>
                <a:cs typeface="Consolas" pitchFamily="34" charset="-120"/>
              </a:rPr>
              <a:t>PREPARED BY</a:t>
            </a:r>
            <a:endParaRPr lang="en-US" sz="1000" dirty="0"/>
          </a:p>
        </p:txBody>
      </p:sp>
      <p:sp>
        <p:nvSpPr>
          <p:cNvPr id="9" name="Text 7"/>
          <p:cNvSpPr/>
          <p:nvPr/>
        </p:nvSpPr>
        <p:spPr>
          <a:xfrm>
            <a:off x="548640" y="5715000"/>
            <a:ext cx="100584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Yasin Benek  ·  Erdinç Taha Diker  ·  Yiğit Dilik  ·  Rohat Demir  ·  Eren Kaman</a:t>
            </a:r>
            <a:endParaRPr lang="en-US" sz="1600" dirty="0"/>
          </a:p>
        </p:txBody>
      </p:sp>
      <p:sp>
        <p:nvSpPr>
          <p:cNvPr id="10" name="Shape 8"/>
          <p:cNvSpPr/>
          <p:nvPr/>
        </p:nvSpPr>
        <p:spPr>
          <a:xfrm>
            <a:off x="8595360" y="1828800"/>
            <a:ext cx="2926080" cy="2926080"/>
          </a:xfrm>
          <a:prstGeom prst="ellipse">
            <a:avLst/>
          </a:prstGeom>
          <a:solidFill>
            <a:srgbClr val="0E1B2D"/>
          </a:solidFill>
          <a:ln w="12700">
            <a:solidFill>
              <a:srgbClr val="3A4658"/>
            </a:solidFill>
            <a:prstDash val="dash"/>
          </a:ln>
        </p:spPr>
      </p:sp>
      <p:sp>
        <p:nvSpPr>
          <p:cNvPr id="11" name="Shape 9"/>
          <p:cNvSpPr/>
          <p:nvPr/>
        </p:nvSpPr>
        <p:spPr>
          <a:xfrm>
            <a:off x="8138160" y="1828800"/>
            <a:ext cx="1005840" cy="1005840"/>
          </a:xfrm>
          <a:prstGeom prst="ellipse">
            <a:avLst/>
          </a:prstGeom>
          <a:solidFill>
            <a:srgbClr val="DC4F4A"/>
          </a:solidFill>
          <a:ln w="12700">
            <a:solidFill>
              <a:srgbClr val="DC4F4A"/>
            </a:solidFill>
            <a:prstDash val="solid"/>
          </a:ln>
        </p:spPr>
      </p:sp>
      <p:sp>
        <p:nvSpPr>
          <p:cNvPr id="12" name="Text 10"/>
          <p:cNvSpPr/>
          <p:nvPr/>
        </p:nvSpPr>
        <p:spPr>
          <a:xfrm>
            <a:off x="7726680" y="2926080"/>
            <a:ext cx="182880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RED</a:t>
            </a:r>
            <a:endParaRPr lang="en-US" sz="900" dirty="0"/>
          </a:p>
        </p:txBody>
      </p:sp>
      <p:sp>
        <p:nvSpPr>
          <p:cNvPr id="13" name="Shape 11"/>
          <p:cNvSpPr/>
          <p:nvPr/>
        </p:nvSpPr>
        <p:spPr>
          <a:xfrm>
            <a:off x="10972800" y="1828800"/>
            <a:ext cx="1005840" cy="1005840"/>
          </a:xfrm>
          <a:prstGeom prst="ellipse">
            <a:avLst/>
          </a:prstGeom>
          <a:solidFill>
            <a:srgbClr val="3FA89A"/>
          </a:solidFill>
          <a:ln w="12700">
            <a:solidFill>
              <a:srgbClr val="3FA89A"/>
            </a:solidFill>
            <a:prstDash val="solid"/>
          </a:ln>
        </p:spPr>
      </p:sp>
      <p:sp>
        <p:nvSpPr>
          <p:cNvPr id="14" name="Text 12"/>
          <p:cNvSpPr/>
          <p:nvPr/>
        </p:nvSpPr>
        <p:spPr>
          <a:xfrm>
            <a:off x="10561320" y="2926080"/>
            <a:ext cx="182880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GREEN</a:t>
            </a:r>
            <a:endParaRPr lang="en-US" sz="900" dirty="0"/>
          </a:p>
        </p:txBody>
      </p:sp>
      <p:sp>
        <p:nvSpPr>
          <p:cNvPr id="15" name="Shape 13"/>
          <p:cNvSpPr/>
          <p:nvPr/>
        </p:nvSpPr>
        <p:spPr>
          <a:xfrm>
            <a:off x="9555480" y="3703320"/>
            <a:ext cx="1005840" cy="1005840"/>
          </a:xfrm>
          <a:prstGeom prst="ellipse">
            <a:avLst/>
          </a:prstGeom>
          <a:solidFill>
            <a:srgbClr val="E5B855"/>
          </a:solidFill>
          <a:ln w="12700">
            <a:solidFill>
              <a:srgbClr val="E5B855"/>
            </a:solidFill>
            <a:prstDash val="solid"/>
          </a:ln>
        </p:spPr>
      </p:sp>
      <p:sp>
        <p:nvSpPr>
          <p:cNvPr id="16" name="Text 14"/>
          <p:cNvSpPr/>
          <p:nvPr/>
        </p:nvSpPr>
        <p:spPr>
          <a:xfrm>
            <a:off x="9144000" y="4800600"/>
            <a:ext cx="182880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REFACTOR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01  ·  FOUNDATIONS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02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What is Test-Driven Development?</a:t>
            </a:r>
            <a:endParaRPr lang="en-US" sz="4000" dirty="0"/>
          </a:p>
        </p:txBody>
      </p:sp>
      <p:sp>
        <p:nvSpPr>
          <p:cNvPr id="6" name="Text 4"/>
          <p:cNvSpPr/>
          <p:nvPr/>
        </p:nvSpPr>
        <p:spPr>
          <a:xfrm>
            <a:off x="548640" y="1783080"/>
            <a:ext cx="7772400" cy="1188720"/>
          </a:xfrm>
          <a:prstGeom prst="rect">
            <a:avLst/>
          </a:prstGeom>
          <a:noFill/>
          <a:ln/>
        </p:spPr>
        <p:txBody>
          <a:bodyPr wrap="square" lIns="0" tIns="0" rIns="0" bIns="0" rtlCol="0" anchor="ctr"/>
          <a:lstStyle/>
          <a:p>
            <a:pPr indent="0" marL="0">
              <a:buNone/>
            </a:pPr>
            <a:r>
              <a:rPr lang="en-US" sz="1600" i="1" dirty="0">
                <a:solidFill>
                  <a:srgbClr val="5A6473"/>
                </a:solidFill>
                <a:latin typeface="Georgia" pitchFamily="34" charset="0"/>
                <a:ea typeface="Georgia" pitchFamily="34" charset="-122"/>
                <a:cs typeface="Georgia" pitchFamily="34" charset="-120"/>
              </a:rPr>
              <a:t>TDD is a software development practice in which automated tests are written before the production code that satisfies them. Popularized by Kent Beck in the early 2000s, it inverts the conventional order of coding and testing.</a:t>
            </a:r>
            <a:endParaRPr lang="en-US" sz="1600" dirty="0"/>
          </a:p>
        </p:txBody>
      </p:sp>
      <p:sp>
        <p:nvSpPr>
          <p:cNvPr id="7" name="Shape 5"/>
          <p:cNvSpPr/>
          <p:nvPr/>
        </p:nvSpPr>
        <p:spPr>
          <a:xfrm>
            <a:off x="548640" y="3383280"/>
            <a:ext cx="3657600" cy="27432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6000"/>
              </a:srgbClr>
            </a:outerShdw>
          </a:effectLst>
        </p:spPr>
      </p:sp>
      <p:sp>
        <p:nvSpPr>
          <p:cNvPr id="8" name="Shape 6"/>
          <p:cNvSpPr/>
          <p:nvPr/>
        </p:nvSpPr>
        <p:spPr>
          <a:xfrm>
            <a:off x="548640" y="3383280"/>
            <a:ext cx="54864" cy="2743200"/>
          </a:xfrm>
          <a:prstGeom prst="rect">
            <a:avLst/>
          </a:prstGeom>
          <a:solidFill>
            <a:srgbClr val="DC4F4A"/>
          </a:solidFill>
          <a:ln w="12700">
            <a:solidFill>
              <a:srgbClr val="DC4F4A"/>
            </a:solidFill>
            <a:prstDash val="solid"/>
          </a:ln>
        </p:spPr>
      </p:sp>
      <p:sp>
        <p:nvSpPr>
          <p:cNvPr id="9" name="Text 7"/>
          <p:cNvSpPr/>
          <p:nvPr/>
        </p:nvSpPr>
        <p:spPr>
          <a:xfrm>
            <a:off x="8229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DEFINITION</a:t>
            </a:r>
            <a:endParaRPr lang="en-US" sz="1000" dirty="0"/>
          </a:p>
        </p:txBody>
      </p:sp>
      <p:sp>
        <p:nvSpPr>
          <p:cNvPr id="10" name="Text 8"/>
          <p:cNvSpPr/>
          <p:nvPr/>
        </p:nvSpPr>
        <p:spPr>
          <a:xfrm>
            <a:off x="822960" y="4023360"/>
            <a:ext cx="3108960" cy="1920240"/>
          </a:xfrm>
          <a:prstGeom prst="rect">
            <a:avLst/>
          </a:prstGeom>
          <a:noFill/>
          <a:ln/>
        </p:spPr>
        <p:txBody>
          <a:bodyPr wrap="square" lIns="0" tIns="0" rIns="0" bIns="0" rtlCol="0" anchor="t"/>
          <a:lstStyle/>
          <a:p>
            <a:pPr indent="0" marL="0">
              <a:buNone/>
            </a:pPr>
            <a:r>
              <a:rPr lang="en-US" sz="1300" dirty="0">
                <a:solidFill>
                  <a:srgbClr val="0E1B2D"/>
                </a:solidFill>
                <a:latin typeface="Calibri" pitchFamily="34" charset="0"/>
                <a:ea typeface="Calibri" pitchFamily="34" charset="-122"/>
                <a:cs typeface="Calibri" pitchFamily="34" charset="-120"/>
              </a:rPr>
              <a:t>A short, repeated cycle: write a failing test that captures a single requirement, write the minimum code to pass it, then refactor without changing behaviour.</a:t>
            </a:r>
            <a:endParaRPr lang="en-US" sz="1300" dirty="0"/>
          </a:p>
        </p:txBody>
      </p:sp>
      <p:sp>
        <p:nvSpPr>
          <p:cNvPr id="11" name="Shape 9"/>
          <p:cNvSpPr/>
          <p:nvPr/>
        </p:nvSpPr>
        <p:spPr>
          <a:xfrm>
            <a:off x="4434840" y="3383280"/>
            <a:ext cx="3657600" cy="27432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6000"/>
              </a:srgbClr>
            </a:outerShdw>
          </a:effectLst>
        </p:spPr>
      </p:sp>
      <p:sp>
        <p:nvSpPr>
          <p:cNvPr id="12" name="Shape 10"/>
          <p:cNvSpPr/>
          <p:nvPr/>
        </p:nvSpPr>
        <p:spPr>
          <a:xfrm>
            <a:off x="4434840" y="3383280"/>
            <a:ext cx="54864" cy="2743200"/>
          </a:xfrm>
          <a:prstGeom prst="rect">
            <a:avLst/>
          </a:prstGeom>
          <a:solidFill>
            <a:srgbClr val="3FA89A"/>
          </a:solidFill>
          <a:ln w="12700">
            <a:solidFill>
              <a:srgbClr val="3FA89A"/>
            </a:solidFill>
            <a:prstDash val="solid"/>
          </a:ln>
        </p:spPr>
      </p:sp>
      <p:sp>
        <p:nvSpPr>
          <p:cNvPr id="13" name="Text 11"/>
          <p:cNvSpPr/>
          <p:nvPr/>
        </p:nvSpPr>
        <p:spPr>
          <a:xfrm>
            <a:off x="47091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3FA89A"/>
                </a:solidFill>
                <a:latin typeface="Consolas" pitchFamily="34" charset="0"/>
                <a:ea typeface="Consolas" pitchFamily="34" charset="-122"/>
                <a:cs typeface="Consolas" pitchFamily="34" charset="-120"/>
              </a:rPr>
              <a:t>GUIDING PRINCIPLES</a:t>
            </a:r>
            <a:endParaRPr lang="en-US" sz="1000" dirty="0"/>
          </a:p>
        </p:txBody>
      </p:sp>
      <p:sp>
        <p:nvSpPr>
          <p:cNvPr id="14" name="Text 12"/>
          <p:cNvSpPr/>
          <p:nvPr/>
        </p:nvSpPr>
        <p:spPr>
          <a:xfrm>
            <a:off x="4709160" y="4023360"/>
            <a:ext cx="3200400" cy="19202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Tests document intent and design.</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Code only exists to satisfy a test.</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Small, incremental, verifiable steps.</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Refactor continuously and safely.</a:t>
            </a:r>
            <a:endParaRPr lang="en-US" sz="1300" dirty="0"/>
          </a:p>
        </p:txBody>
      </p:sp>
      <p:sp>
        <p:nvSpPr>
          <p:cNvPr id="15" name="Shape 13"/>
          <p:cNvSpPr/>
          <p:nvPr/>
        </p:nvSpPr>
        <p:spPr>
          <a:xfrm>
            <a:off x="8321040" y="3383280"/>
            <a:ext cx="3657600" cy="2743200"/>
          </a:xfrm>
          <a:prstGeom prst="rect">
            <a:avLst/>
          </a:prstGeom>
          <a:solidFill>
            <a:srgbClr val="112237"/>
          </a:solidFill>
          <a:ln w="12700">
            <a:solidFill>
              <a:srgbClr val="112237"/>
            </a:solidFill>
            <a:prstDash val="solid"/>
          </a:ln>
          <a:effectLst>
            <a:outerShdw sx="100000" sy="100000" kx="0" ky="0" algn="bl" rotWithShape="0" blurRad="101600" dist="25400" dir="5400000">
              <a:srgbClr val="000000">
                <a:alpha val="6000"/>
              </a:srgbClr>
            </a:outerShdw>
          </a:effectLst>
        </p:spPr>
      </p:sp>
      <p:sp>
        <p:nvSpPr>
          <p:cNvPr id="16" name="Text 14"/>
          <p:cNvSpPr/>
          <p:nvPr/>
        </p:nvSpPr>
        <p:spPr>
          <a:xfrm>
            <a:off x="85953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ORIGIN</a:t>
            </a:r>
            <a:endParaRPr lang="en-US" sz="1000" dirty="0"/>
          </a:p>
        </p:txBody>
      </p:sp>
      <p:sp>
        <p:nvSpPr>
          <p:cNvPr id="17" name="Text 15"/>
          <p:cNvSpPr/>
          <p:nvPr/>
        </p:nvSpPr>
        <p:spPr>
          <a:xfrm>
            <a:off x="8595360" y="4069080"/>
            <a:ext cx="3108960" cy="1371600"/>
          </a:xfrm>
          <a:prstGeom prst="rect">
            <a:avLst/>
          </a:prstGeom>
          <a:noFill/>
          <a:ln/>
        </p:spPr>
        <p:txBody>
          <a:bodyPr wrap="square" lIns="0" tIns="0" rIns="0" bIns="0" rtlCol="0" anchor="t"/>
          <a:lstStyle/>
          <a:p>
            <a:pPr indent="0" marL="0">
              <a:buNone/>
            </a:pPr>
            <a:r>
              <a:rPr lang="en-US" sz="1500" i="1" dirty="0">
                <a:solidFill>
                  <a:srgbClr val="FFFFFF"/>
                </a:solidFill>
                <a:latin typeface="Georgia" pitchFamily="34" charset="0"/>
                <a:ea typeface="Georgia" pitchFamily="34" charset="-122"/>
                <a:cs typeface="Georgia" pitchFamily="34" charset="-120"/>
              </a:rPr>
              <a:t>“Never write a single line of code unless you have a failing automated test.”</a:t>
            </a:r>
            <a:endParaRPr lang="en-US" sz="1500" dirty="0"/>
          </a:p>
        </p:txBody>
      </p:sp>
      <p:sp>
        <p:nvSpPr>
          <p:cNvPr id="18" name="Text 16"/>
          <p:cNvSpPr/>
          <p:nvPr/>
        </p:nvSpPr>
        <p:spPr>
          <a:xfrm>
            <a:off x="8595360" y="5486400"/>
            <a:ext cx="3108960" cy="457200"/>
          </a:xfrm>
          <a:prstGeom prst="rect">
            <a:avLst/>
          </a:prstGeom>
          <a:noFill/>
          <a:ln/>
        </p:spPr>
        <p:txBody>
          <a:bodyPr wrap="square" lIns="0" tIns="0" rIns="0" bIns="0" rtlCol="0" anchor="ctr"/>
          <a:lstStyle/>
          <a:p>
            <a:pPr indent="0" marL="0">
              <a:buNone/>
            </a:pPr>
            <a:r>
              <a:rPr lang="en-US" sz="1000" dirty="0">
                <a:solidFill>
                  <a:srgbClr val="8B95A6"/>
                </a:solidFill>
                <a:latin typeface="Calibri" pitchFamily="34" charset="0"/>
                <a:ea typeface="Calibri" pitchFamily="34" charset="-122"/>
                <a:cs typeface="Calibri" pitchFamily="34" charset="-120"/>
              </a:rPr>
              <a:t>— Kent Beck, Test-Driven Development: By Example (2003)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02  ·  THE CYCLE</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03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0E1B2D"/>
                </a:solidFill>
                <a:latin typeface="Georgia" pitchFamily="34" charset="0"/>
                <a:ea typeface="Georgia" pitchFamily="34" charset="-122"/>
                <a:cs typeface="Georgia" pitchFamily="34" charset="-120"/>
              </a:rPr>
              <a:t>The Red — Green — Refactor cycle</a:t>
            </a:r>
            <a:endParaRPr lang="en-US" sz="3800" dirty="0"/>
          </a:p>
        </p:txBody>
      </p:sp>
      <p:sp>
        <p:nvSpPr>
          <p:cNvPr id="6" name="Text 4"/>
          <p:cNvSpPr/>
          <p:nvPr/>
        </p:nvSpPr>
        <p:spPr>
          <a:xfrm>
            <a:off x="548640" y="1783080"/>
            <a:ext cx="10058400" cy="54864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Three short phases repeated dozens of times per hour. Each turn of the loop adds one observable behaviour to the system.</a:t>
            </a:r>
            <a:endParaRPr lang="en-US" sz="1400" dirty="0"/>
          </a:p>
        </p:txBody>
      </p:sp>
      <p:sp>
        <p:nvSpPr>
          <p:cNvPr id="7" name="Shape 5"/>
          <p:cNvSpPr/>
          <p:nvPr/>
        </p:nvSpPr>
        <p:spPr>
          <a:xfrm>
            <a:off x="1508760" y="2606040"/>
            <a:ext cx="2103120" cy="2103120"/>
          </a:xfrm>
          <a:prstGeom prst="ellipse">
            <a:avLst/>
          </a:prstGeom>
          <a:solidFill>
            <a:srgbClr val="DC4F4A"/>
          </a:solidFill>
          <a:ln w="12700">
            <a:solidFill>
              <a:srgbClr val="DC4F4A"/>
            </a:solidFill>
            <a:prstDash val="solid"/>
          </a:ln>
        </p:spPr>
      </p:sp>
      <p:sp>
        <p:nvSpPr>
          <p:cNvPr id="8" name="Text 6"/>
          <p:cNvSpPr/>
          <p:nvPr/>
        </p:nvSpPr>
        <p:spPr>
          <a:xfrm>
            <a:off x="1508760"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1</a:t>
            </a:r>
            <a:endParaRPr lang="en-US" sz="900" dirty="0"/>
          </a:p>
        </p:txBody>
      </p:sp>
      <p:sp>
        <p:nvSpPr>
          <p:cNvPr id="9" name="Text 7"/>
          <p:cNvSpPr/>
          <p:nvPr/>
        </p:nvSpPr>
        <p:spPr>
          <a:xfrm>
            <a:off x="1508760"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Red</a:t>
            </a:r>
            <a:endParaRPr lang="en-US" sz="3000" dirty="0"/>
          </a:p>
        </p:txBody>
      </p:sp>
      <p:sp>
        <p:nvSpPr>
          <p:cNvPr id="10" name="Text 8"/>
          <p:cNvSpPr/>
          <p:nvPr/>
        </p:nvSpPr>
        <p:spPr>
          <a:xfrm>
            <a:off x="1554480"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Write a small test that fails — it describes behaviour the system does not yet have.</a:t>
            </a:r>
            <a:endParaRPr lang="en-US" sz="900" dirty="0"/>
          </a:p>
        </p:txBody>
      </p:sp>
      <p:sp>
        <p:nvSpPr>
          <p:cNvPr id="11" name="Shape 9"/>
          <p:cNvSpPr/>
          <p:nvPr/>
        </p:nvSpPr>
        <p:spPr>
          <a:xfrm>
            <a:off x="5042916" y="2606040"/>
            <a:ext cx="2103120" cy="2103120"/>
          </a:xfrm>
          <a:prstGeom prst="ellipse">
            <a:avLst/>
          </a:prstGeom>
          <a:solidFill>
            <a:srgbClr val="3FA89A"/>
          </a:solidFill>
          <a:ln w="12700">
            <a:solidFill>
              <a:srgbClr val="3FA89A"/>
            </a:solidFill>
            <a:prstDash val="solid"/>
          </a:ln>
        </p:spPr>
      </p:sp>
      <p:sp>
        <p:nvSpPr>
          <p:cNvPr id="12" name="Text 10"/>
          <p:cNvSpPr/>
          <p:nvPr/>
        </p:nvSpPr>
        <p:spPr>
          <a:xfrm>
            <a:off x="5042916"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2</a:t>
            </a:r>
            <a:endParaRPr lang="en-US" sz="900" dirty="0"/>
          </a:p>
        </p:txBody>
      </p:sp>
      <p:sp>
        <p:nvSpPr>
          <p:cNvPr id="13" name="Text 11"/>
          <p:cNvSpPr/>
          <p:nvPr/>
        </p:nvSpPr>
        <p:spPr>
          <a:xfrm>
            <a:off x="5042916"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Green</a:t>
            </a:r>
            <a:endParaRPr lang="en-US" sz="3000" dirty="0"/>
          </a:p>
        </p:txBody>
      </p:sp>
      <p:sp>
        <p:nvSpPr>
          <p:cNvPr id="14" name="Text 12"/>
          <p:cNvSpPr/>
          <p:nvPr/>
        </p:nvSpPr>
        <p:spPr>
          <a:xfrm>
            <a:off x="5088636"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Write the simplest production code that makes the test pass — no more, no less.</a:t>
            </a:r>
            <a:endParaRPr lang="en-US" sz="900" dirty="0"/>
          </a:p>
        </p:txBody>
      </p:sp>
      <p:sp>
        <p:nvSpPr>
          <p:cNvPr id="15" name="Shape 13"/>
          <p:cNvSpPr/>
          <p:nvPr/>
        </p:nvSpPr>
        <p:spPr>
          <a:xfrm>
            <a:off x="8549640" y="2606040"/>
            <a:ext cx="2103120" cy="2103120"/>
          </a:xfrm>
          <a:prstGeom prst="ellipse">
            <a:avLst/>
          </a:prstGeom>
          <a:solidFill>
            <a:srgbClr val="E5B855"/>
          </a:solidFill>
          <a:ln w="12700">
            <a:solidFill>
              <a:srgbClr val="E5B855"/>
            </a:solidFill>
            <a:prstDash val="solid"/>
          </a:ln>
        </p:spPr>
      </p:sp>
      <p:sp>
        <p:nvSpPr>
          <p:cNvPr id="16" name="Text 14"/>
          <p:cNvSpPr/>
          <p:nvPr/>
        </p:nvSpPr>
        <p:spPr>
          <a:xfrm>
            <a:off x="8549640"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3</a:t>
            </a:r>
            <a:endParaRPr lang="en-US" sz="900" dirty="0"/>
          </a:p>
        </p:txBody>
      </p:sp>
      <p:sp>
        <p:nvSpPr>
          <p:cNvPr id="17" name="Text 15"/>
          <p:cNvSpPr/>
          <p:nvPr/>
        </p:nvSpPr>
        <p:spPr>
          <a:xfrm>
            <a:off x="8549640"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Refactor</a:t>
            </a:r>
            <a:endParaRPr lang="en-US" sz="3000" dirty="0"/>
          </a:p>
        </p:txBody>
      </p:sp>
      <p:sp>
        <p:nvSpPr>
          <p:cNvPr id="18" name="Text 16"/>
          <p:cNvSpPr/>
          <p:nvPr/>
        </p:nvSpPr>
        <p:spPr>
          <a:xfrm>
            <a:off x="8595360"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Improve structure while tests stay green — eliminate duplication, clarify intent.</a:t>
            </a:r>
            <a:endParaRPr lang="en-US" sz="900" dirty="0"/>
          </a:p>
        </p:txBody>
      </p:sp>
      <p:sp>
        <p:nvSpPr>
          <p:cNvPr id="19" name="Shape 17"/>
          <p:cNvSpPr/>
          <p:nvPr/>
        </p:nvSpPr>
        <p:spPr>
          <a:xfrm>
            <a:off x="3703320" y="3657600"/>
            <a:ext cx="1248156" cy="0"/>
          </a:xfrm>
          <a:prstGeom prst="line">
            <a:avLst/>
          </a:prstGeom>
          <a:noFill/>
          <a:ln w="31750">
            <a:solidFill>
              <a:srgbClr val="0E1B2D"/>
            </a:solidFill>
            <a:prstDash val="solid"/>
            <a:tailEnd type="triangle"/>
          </a:ln>
        </p:spPr>
      </p:sp>
      <p:sp>
        <p:nvSpPr>
          <p:cNvPr id="20" name="Shape 18"/>
          <p:cNvSpPr/>
          <p:nvPr/>
        </p:nvSpPr>
        <p:spPr>
          <a:xfrm>
            <a:off x="7237476" y="3657600"/>
            <a:ext cx="1220724" cy="0"/>
          </a:xfrm>
          <a:prstGeom prst="line">
            <a:avLst/>
          </a:prstGeom>
          <a:noFill/>
          <a:ln w="31750">
            <a:solidFill>
              <a:srgbClr val="0E1B2D"/>
            </a:solidFill>
            <a:prstDash val="solid"/>
            <a:tailEnd type="triangle"/>
          </a:ln>
        </p:spPr>
      </p:sp>
      <p:sp>
        <p:nvSpPr>
          <p:cNvPr id="21" name="Shape 19"/>
          <p:cNvSpPr/>
          <p:nvPr/>
        </p:nvSpPr>
        <p:spPr>
          <a:xfrm>
            <a:off x="2560320" y="5257800"/>
            <a:ext cx="7040880" cy="0"/>
          </a:xfrm>
          <a:prstGeom prst="line">
            <a:avLst/>
          </a:prstGeom>
          <a:noFill/>
          <a:ln w="12700">
            <a:solidFill>
              <a:srgbClr val="0E1B2D"/>
            </a:solidFill>
            <a:prstDash val="solid"/>
          </a:ln>
        </p:spPr>
      </p:sp>
      <p:sp>
        <p:nvSpPr>
          <p:cNvPr id="22" name="Shape 20"/>
          <p:cNvSpPr/>
          <p:nvPr/>
        </p:nvSpPr>
        <p:spPr>
          <a:xfrm>
            <a:off x="2560320" y="4709160"/>
            <a:ext cx="0" cy="548640"/>
          </a:xfrm>
          <a:prstGeom prst="line">
            <a:avLst/>
          </a:prstGeom>
          <a:noFill/>
          <a:ln w="12700">
            <a:solidFill>
              <a:srgbClr val="0E1B2D"/>
            </a:solidFill>
            <a:prstDash val="solid"/>
          </a:ln>
        </p:spPr>
      </p:sp>
      <p:sp>
        <p:nvSpPr>
          <p:cNvPr id="23" name="Shape 21"/>
          <p:cNvSpPr/>
          <p:nvPr/>
        </p:nvSpPr>
        <p:spPr>
          <a:xfrm>
            <a:off x="6094476" y="4709160"/>
            <a:ext cx="0" cy="548640"/>
          </a:xfrm>
          <a:prstGeom prst="line">
            <a:avLst/>
          </a:prstGeom>
          <a:noFill/>
          <a:ln w="12700">
            <a:solidFill>
              <a:srgbClr val="0E1B2D"/>
            </a:solidFill>
            <a:prstDash val="solid"/>
          </a:ln>
        </p:spPr>
      </p:sp>
      <p:sp>
        <p:nvSpPr>
          <p:cNvPr id="24" name="Shape 22"/>
          <p:cNvSpPr/>
          <p:nvPr/>
        </p:nvSpPr>
        <p:spPr>
          <a:xfrm>
            <a:off x="9601200" y="4709160"/>
            <a:ext cx="0" cy="548640"/>
          </a:xfrm>
          <a:prstGeom prst="line">
            <a:avLst/>
          </a:prstGeom>
          <a:noFill/>
          <a:ln w="12700">
            <a:solidFill>
              <a:srgbClr val="0E1B2D"/>
            </a:solidFill>
            <a:prstDash val="solid"/>
          </a:ln>
        </p:spPr>
      </p:sp>
      <p:sp>
        <p:nvSpPr>
          <p:cNvPr id="25" name="Shape 23"/>
          <p:cNvSpPr/>
          <p:nvPr/>
        </p:nvSpPr>
        <p:spPr>
          <a:xfrm>
            <a:off x="2560320" y="5257800"/>
            <a:ext cx="0" cy="-502920"/>
          </a:xfrm>
          <a:prstGeom prst="line">
            <a:avLst/>
          </a:prstGeom>
          <a:noFill/>
          <a:ln w="25400">
            <a:solidFill>
              <a:srgbClr val="0E1B2D"/>
            </a:solidFill>
            <a:prstDash val="solid"/>
            <a:tailEnd type="triangle"/>
          </a:ln>
        </p:spPr>
      </p:sp>
      <p:sp>
        <p:nvSpPr>
          <p:cNvPr id="26" name="Text 24"/>
          <p:cNvSpPr/>
          <p:nvPr/>
        </p:nvSpPr>
        <p:spPr>
          <a:xfrm>
            <a:off x="548640" y="6035040"/>
            <a:ext cx="10972800" cy="457200"/>
          </a:xfrm>
          <a:prstGeom prst="rect">
            <a:avLst/>
          </a:prstGeom>
          <a:noFill/>
          <a:ln/>
        </p:spPr>
        <p:txBody>
          <a:bodyPr wrap="square" lIns="0" tIns="0" rIns="0" bIns="0" rtlCol="0" anchor="ctr"/>
          <a:lstStyle/>
          <a:p>
            <a:pPr algn="ctr" indent="0" marL="0">
              <a:buNone/>
            </a:pPr>
            <a:r>
              <a:rPr lang="en-US" sz="1400" i="1" dirty="0">
                <a:solidFill>
                  <a:srgbClr val="5A6473"/>
                </a:solidFill>
                <a:latin typeface="Georgia" pitchFamily="34" charset="0"/>
                <a:ea typeface="Georgia" pitchFamily="34" charset="-122"/>
                <a:cs typeface="Georgia" pitchFamily="34" charset="-120"/>
              </a:rPr>
              <a:t>Repeat for every new behaviour — each cycle typically lasts only a few minutes.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D"/>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A1525"/>
          </a:solidFill>
          <a:ln w="12700">
            <a:solidFill>
              <a:srgbClr val="0A1525"/>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03  ·  WALKTHROUGH</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04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A complete cycle in practice</a:t>
            </a:r>
            <a:endParaRPr lang="en-US" sz="38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8B95A6"/>
                </a:solidFill>
                <a:latin typeface="Calibri" pitchFamily="34" charset="0"/>
                <a:ea typeface="Calibri" pitchFamily="34" charset="-122"/>
                <a:cs typeface="Calibri" pitchFamily="34" charset="-120"/>
              </a:rPr>
              <a:t>Building a </a:t>
            </a:r>
            <a:pPr indent="0" marL="0">
              <a:buNone/>
            </a:pPr>
            <a:r>
              <a:rPr lang="en-US" sz="1400" dirty="0">
                <a:solidFill>
                  <a:srgbClr val="E5B855"/>
                </a:solidFill>
                <a:latin typeface="Consolas" pitchFamily="34" charset="0"/>
                <a:ea typeface="Consolas" pitchFamily="34" charset="-122"/>
                <a:cs typeface="Consolas" pitchFamily="34" charset="-120"/>
              </a:rPr>
              <a:t>Calculator.add()</a:t>
            </a:r>
            <a:pPr indent="0" marL="0">
              <a:buNone/>
            </a:pPr>
            <a:r>
              <a:rPr lang="en-US" sz="1400" dirty="0">
                <a:solidFill>
                  <a:srgbClr val="8B95A6"/>
                </a:solidFill>
                <a:latin typeface="Calibri" pitchFamily="34" charset="0"/>
                <a:ea typeface="Calibri" pitchFamily="34" charset="-122"/>
                <a:cs typeface="Calibri" pitchFamily="34" charset="-120"/>
              </a:rPr>
              <a:t> function — three iterations of the cycle, captured in code.</a:t>
            </a:r>
            <a:endParaRPr lang="en-US" sz="1400" dirty="0"/>
          </a:p>
        </p:txBody>
      </p:sp>
      <p:sp>
        <p:nvSpPr>
          <p:cNvPr id="7" name="Shape 5"/>
          <p:cNvSpPr/>
          <p:nvPr/>
        </p:nvSpPr>
        <p:spPr>
          <a:xfrm>
            <a:off x="548640" y="2606040"/>
            <a:ext cx="3657600" cy="3840480"/>
          </a:xfrm>
          <a:prstGeom prst="rect">
            <a:avLst/>
          </a:prstGeom>
          <a:solidFill>
            <a:srgbClr val="0A1525"/>
          </a:solidFill>
          <a:ln w="12700">
            <a:solidFill>
              <a:srgbClr val="0A1525"/>
            </a:solidFill>
            <a:prstDash val="solid"/>
          </a:ln>
        </p:spPr>
      </p:sp>
      <p:sp>
        <p:nvSpPr>
          <p:cNvPr id="8" name="Shape 6"/>
          <p:cNvSpPr/>
          <p:nvPr/>
        </p:nvSpPr>
        <p:spPr>
          <a:xfrm>
            <a:off x="548640" y="2606040"/>
            <a:ext cx="3657600" cy="45720"/>
          </a:xfrm>
          <a:prstGeom prst="rect">
            <a:avLst/>
          </a:prstGeom>
          <a:solidFill>
            <a:srgbClr val="DC4F4A"/>
          </a:solidFill>
          <a:ln w="12700">
            <a:solidFill>
              <a:srgbClr val="DC4F4A"/>
            </a:solidFill>
            <a:prstDash val="solid"/>
          </a:ln>
        </p:spPr>
      </p:sp>
      <p:sp>
        <p:nvSpPr>
          <p:cNvPr id="9" name="Text 7"/>
          <p:cNvSpPr/>
          <p:nvPr/>
        </p:nvSpPr>
        <p:spPr>
          <a:xfrm>
            <a:off x="8229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DC4F4A"/>
                </a:solidFill>
                <a:latin typeface="Consolas" pitchFamily="34" charset="0"/>
                <a:ea typeface="Consolas" pitchFamily="34" charset="-122"/>
                <a:cs typeface="Consolas" pitchFamily="34" charset="-120"/>
              </a:rPr>
              <a:t>● RED</a:t>
            </a:r>
            <a:endParaRPr lang="en-US" sz="1000" dirty="0"/>
          </a:p>
        </p:txBody>
      </p:sp>
      <p:sp>
        <p:nvSpPr>
          <p:cNvPr id="10" name="Text 8"/>
          <p:cNvSpPr/>
          <p:nvPr/>
        </p:nvSpPr>
        <p:spPr>
          <a:xfrm>
            <a:off x="8229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Write a failing test</a:t>
            </a:r>
            <a:endParaRPr lang="en-US" sz="1800" dirty="0"/>
          </a:p>
        </p:txBody>
      </p:sp>
      <p:sp>
        <p:nvSpPr>
          <p:cNvPr id="11" name="Text 9"/>
          <p:cNvSpPr/>
          <p:nvPr/>
        </p:nvSpPr>
        <p:spPr>
          <a:xfrm>
            <a:off x="8229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Express the behaviour you want before any production code exists.</a:t>
            </a:r>
            <a:endParaRPr lang="en-US" sz="1100" dirty="0"/>
          </a:p>
        </p:txBody>
      </p:sp>
      <p:sp>
        <p:nvSpPr>
          <p:cNvPr id="12" name="Shape 10"/>
          <p:cNvSpPr/>
          <p:nvPr/>
        </p:nvSpPr>
        <p:spPr>
          <a:xfrm>
            <a:off x="777240" y="4297680"/>
            <a:ext cx="3200400" cy="1965960"/>
          </a:xfrm>
          <a:prstGeom prst="rect">
            <a:avLst/>
          </a:prstGeom>
          <a:solidFill>
            <a:srgbClr val="162840"/>
          </a:solidFill>
          <a:ln w="12700">
            <a:solidFill>
              <a:srgbClr val="162840"/>
            </a:solidFill>
            <a:prstDash val="solid"/>
          </a:ln>
        </p:spPr>
      </p:sp>
      <p:sp>
        <p:nvSpPr>
          <p:cNvPr id="13" name="Text 11"/>
          <p:cNvSpPr/>
          <p:nvPr/>
        </p:nvSpPr>
        <p:spPr>
          <a:xfrm>
            <a:off x="9144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test_calculator.py</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test_add_two_numbers():</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calc = Calculator()</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assert calc.add(2, 3) == 5</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Result:</a:t>
            </a:r>
            <a:endParaRPr lang="en-US" sz="950" dirty="0"/>
          </a:p>
          <a:p>
            <a:pPr indent="0" marL="0">
              <a:buNone/>
            </a:pPr>
            <a:r>
              <a:rPr lang="en-US" sz="950" dirty="0">
                <a:solidFill>
                  <a:srgbClr val="DC4F4A"/>
                </a:solidFill>
                <a:latin typeface="Consolas" pitchFamily="34" charset="0"/>
                <a:ea typeface="Consolas" pitchFamily="34" charset="-122"/>
                <a:cs typeface="Consolas" pitchFamily="34" charset="-120"/>
              </a:rPr>
              <a:t>FAIL — NameError:</a:t>
            </a:r>
            <a:endParaRPr lang="en-US" sz="950" dirty="0"/>
          </a:p>
          <a:p>
            <a:pPr indent="0" marL="0">
              <a:buNone/>
            </a:pPr>
            <a:r>
              <a:rPr lang="en-US" sz="950" dirty="0">
                <a:solidFill>
                  <a:srgbClr val="DC4F4A"/>
                </a:solidFill>
                <a:latin typeface="Consolas" pitchFamily="34" charset="0"/>
                <a:ea typeface="Consolas" pitchFamily="34" charset="-122"/>
                <a:cs typeface="Consolas" pitchFamily="34" charset="-120"/>
              </a:rPr>
              <a:t>'Calculator' is not defined</a:t>
            </a:r>
            <a:endParaRPr lang="en-US" sz="950" dirty="0"/>
          </a:p>
        </p:txBody>
      </p:sp>
      <p:sp>
        <p:nvSpPr>
          <p:cNvPr id="14" name="Shape 12"/>
          <p:cNvSpPr/>
          <p:nvPr/>
        </p:nvSpPr>
        <p:spPr>
          <a:xfrm>
            <a:off x="4434840" y="2606040"/>
            <a:ext cx="3657600" cy="3840480"/>
          </a:xfrm>
          <a:prstGeom prst="rect">
            <a:avLst/>
          </a:prstGeom>
          <a:solidFill>
            <a:srgbClr val="0A1525"/>
          </a:solidFill>
          <a:ln w="12700">
            <a:solidFill>
              <a:srgbClr val="0A1525"/>
            </a:solidFill>
            <a:prstDash val="solid"/>
          </a:ln>
        </p:spPr>
      </p:sp>
      <p:sp>
        <p:nvSpPr>
          <p:cNvPr id="15" name="Shape 13"/>
          <p:cNvSpPr/>
          <p:nvPr/>
        </p:nvSpPr>
        <p:spPr>
          <a:xfrm>
            <a:off x="4434840" y="2606040"/>
            <a:ext cx="3657600" cy="45720"/>
          </a:xfrm>
          <a:prstGeom prst="rect">
            <a:avLst/>
          </a:prstGeom>
          <a:solidFill>
            <a:srgbClr val="3FA89A"/>
          </a:solidFill>
          <a:ln w="12700">
            <a:solidFill>
              <a:srgbClr val="3FA89A"/>
            </a:solidFill>
            <a:prstDash val="solid"/>
          </a:ln>
        </p:spPr>
      </p:sp>
      <p:sp>
        <p:nvSpPr>
          <p:cNvPr id="16" name="Text 14"/>
          <p:cNvSpPr/>
          <p:nvPr/>
        </p:nvSpPr>
        <p:spPr>
          <a:xfrm>
            <a:off x="47091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3FA89A"/>
                </a:solidFill>
                <a:latin typeface="Consolas" pitchFamily="34" charset="0"/>
                <a:ea typeface="Consolas" pitchFamily="34" charset="-122"/>
                <a:cs typeface="Consolas" pitchFamily="34" charset="-120"/>
              </a:rPr>
              <a:t>● GREEN</a:t>
            </a:r>
            <a:endParaRPr lang="en-US" sz="1000" dirty="0"/>
          </a:p>
        </p:txBody>
      </p:sp>
      <p:sp>
        <p:nvSpPr>
          <p:cNvPr id="17" name="Text 15"/>
          <p:cNvSpPr/>
          <p:nvPr/>
        </p:nvSpPr>
        <p:spPr>
          <a:xfrm>
            <a:off x="47091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Make it pass — minimally</a:t>
            </a:r>
            <a:endParaRPr lang="en-US" sz="1800" dirty="0"/>
          </a:p>
        </p:txBody>
      </p:sp>
      <p:sp>
        <p:nvSpPr>
          <p:cNvPr id="18" name="Text 16"/>
          <p:cNvSpPr/>
          <p:nvPr/>
        </p:nvSpPr>
        <p:spPr>
          <a:xfrm>
            <a:off x="47091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Resist over-engineering. Even a hard-coded return is acceptable here.</a:t>
            </a:r>
            <a:endParaRPr lang="en-US" sz="1100" dirty="0"/>
          </a:p>
        </p:txBody>
      </p:sp>
      <p:sp>
        <p:nvSpPr>
          <p:cNvPr id="19" name="Shape 17"/>
          <p:cNvSpPr/>
          <p:nvPr/>
        </p:nvSpPr>
        <p:spPr>
          <a:xfrm>
            <a:off x="4663440" y="4297680"/>
            <a:ext cx="3200400" cy="1965960"/>
          </a:xfrm>
          <a:prstGeom prst="rect">
            <a:avLst/>
          </a:prstGeom>
          <a:solidFill>
            <a:srgbClr val="162840"/>
          </a:solidFill>
          <a:ln w="12700">
            <a:solidFill>
              <a:srgbClr val="162840"/>
            </a:solidFill>
            <a:prstDash val="solid"/>
          </a:ln>
        </p:spPr>
      </p:sp>
      <p:sp>
        <p:nvSpPr>
          <p:cNvPr id="20" name="Text 18"/>
          <p:cNvSpPr/>
          <p:nvPr/>
        </p:nvSpPr>
        <p:spPr>
          <a:xfrm>
            <a:off x="48006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calculator.py</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class Calculator:</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    def add(self, a,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return a +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Result:</a:t>
            </a:r>
            <a:endParaRPr lang="en-US" sz="950" dirty="0"/>
          </a:p>
          <a:p>
            <a:pPr indent="0" marL="0">
              <a:buNone/>
            </a:pPr>
            <a:r>
              <a:rPr lang="en-US" sz="950" dirty="0">
                <a:solidFill>
                  <a:srgbClr val="3FA89A"/>
                </a:solidFill>
                <a:latin typeface="Consolas" pitchFamily="34" charset="0"/>
                <a:ea typeface="Consolas" pitchFamily="34" charset="-122"/>
                <a:cs typeface="Consolas" pitchFamily="34" charset="-120"/>
              </a:rPr>
              <a:t>PASS — 1 test passed</a:t>
            </a:r>
            <a:endParaRPr lang="en-US" sz="950" dirty="0"/>
          </a:p>
        </p:txBody>
      </p:sp>
      <p:sp>
        <p:nvSpPr>
          <p:cNvPr id="21" name="Shape 19"/>
          <p:cNvSpPr/>
          <p:nvPr/>
        </p:nvSpPr>
        <p:spPr>
          <a:xfrm>
            <a:off x="8321040" y="2606040"/>
            <a:ext cx="3657600" cy="3840480"/>
          </a:xfrm>
          <a:prstGeom prst="rect">
            <a:avLst/>
          </a:prstGeom>
          <a:solidFill>
            <a:srgbClr val="0A1525"/>
          </a:solidFill>
          <a:ln w="12700">
            <a:solidFill>
              <a:srgbClr val="0A1525"/>
            </a:solidFill>
            <a:prstDash val="solid"/>
          </a:ln>
        </p:spPr>
      </p:sp>
      <p:sp>
        <p:nvSpPr>
          <p:cNvPr id="22" name="Shape 20"/>
          <p:cNvSpPr/>
          <p:nvPr/>
        </p:nvSpPr>
        <p:spPr>
          <a:xfrm>
            <a:off x="8321040" y="2606040"/>
            <a:ext cx="3657600" cy="45720"/>
          </a:xfrm>
          <a:prstGeom prst="rect">
            <a:avLst/>
          </a:prstGeom>
          <a:solidFill>
            <a:srgbClr val="E5B855"/>
          </a:solidFill>
          <a:ln w="12700">
            <a:solidFill>
              <a:srgbClr val="E5B855"/>
            </a:solidFill>
            <a:prstDash val="solid"/>
          </a:ln>
        </p:spPr>
      </p:sp>
      <p:sp>
        <p:nvSpPr>
          <p:cNvPr id="23" name="Text 21"/>
          <p:cNvSpPr/>
          <p:nvPr/>
        </p:nvSpPr>
        <p:spPr>
          <a:xfrm>
            <a:off x="85953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E5B855"/>
                </a:solidFill>
                <a:latin typeface="Consolas" pitchFamily="34" charset="0"/>
                <a:ea typeface="Consolas" pitchFamily="34" charset="-122"/>
                <a:cs typeface="Consolas" pitchFamily="34" charset="-120"/>
              </a:rPr>
              <a:t>● REFACTOR</a:t>
            </a:r>
            <a:endParaRPr lang="en-US" sz="1000" dirty="0"/>
          </a:p>
        </p:txBody>
      </p:sp>
      <p:sp>
        <p:nvSpPr>
          <p:cNvPr id="24" name="Text 22"/>
          <p:cNvSpPr/>
          <p:nvPr/>
        </p:nvSpPr>
        <p:spPr>
          <a:xfrm>
            <a:off x="85953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Clean up — tests still green</a:t>
            </a:r>
            <a:endParaRPr lang="en-US" sz="1800" dirty="0"/>
          </a:p>
        </p:txBody>
      </p:sp>
      <p:sp>
        <p:nvSpPr>
          <p:cNvPr id="25" name="Text 23"/>
          <p:cNvSpPr/>
          <p:nvPr/>
        </p:nvSpPr>
        <p:spPr>
          <a:xfrm>
            <a:off x="85953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Add edge-case tests, extract types, improve names — without changing behaviour.</a:t>
            </a:r>
            <a:endParaRPr lang="en-US" sz="1100" dirty="0"/>
          </a:p>
        </p:txBody>
      </p:sp>
      <p:sp>
        <p:nvSpPr>
          <p:cNvPr id="26" name="Shape 24"/>
          <p:cNvSpPr/>
          <p:nvPr/>
        </p:nvSpPr>
        <p:spPr>
          <a:xfrm>
            <a:off x="8549640" y="4297680"/>
            <a:ext cx="3200400" cy="1965960"/>
          </a:xfrm>
          <a:prstGeom prst="rect">
            <a:avLst/>
          </a:prstGeom>
          <a:solidFill>
            <a:srgbClr val="162840"/>
          </a:solidFill>
          <a:ln w="12700">
            <a:solidFill>
              <a:srgbClr val="162840"/>
            </a:solidFill>
            <a:prstDash val="solid"/>
          </a:ln>
        </p:spPr>
      </p:sp>
      <p:sp>
        <p:nvSpPr>
          <p:cNvPr id="27" name="Text 25"/>
          <p:cNvSpPr/>
          <p:nvPr/>
        </p:nvSpPr>
        <p:spPr>
          <a:xfrm>
            <a:off x="86868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Add new test:</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test_add_negatives():</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assert Calc().add(-1, -2) == -3</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Then improve:</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add(self, a: int,</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        b: int) -&gt; int:</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return a +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3FA89A"/>
                </a:solidFill>
                <a:latin typeface="Consolas" pitchFamily="34" charset="0"/>
                <a:ea typeface="Consolas" pitchFamily="34" charset="-122"/>
                <a:cs typeface="Consolas" pitchFamily="34" charset="-120"/>
              </a:rPr>
              <a:t>PASS — 2 tests passed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04  ·  WHY IT MATTERS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05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Benefits of practising TDD</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The discipline pays off across the lifecycle — from initial design through long-term maintenance.</a:t>
            </a:r>
            <a:endParaRPr lang="en-US" sz="1400" dirty="0"/>
          </a:p>
        </p:txBody>
      </p:sp>
      <p:sp>
        <p:nvSpPr>
          <p:cNvPr id="7" name="Shape 5"/>
          <p:cNvSpPr/>
          <p:nvPr/>
        </p:nvSpPr>
        <p:spPr>
          <a:xfrm>
            <a:off x="548640"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822960" y="2651760"/>
            <a:ext cx="1371600" cy="640080"/>
          </a:xfrm>
          <a:prstGeom prst="rect">
            <a:avLst/>
          </a:prstGeom>
          <a:noFill/>
          <a:ln/>
        </p:spPr>
        <p:txBody>
          <a:bodyPr wrap="square" lIns="0" tIns="0" rIns="0" bIns="0" rtlCol="0" anchor="ctr"/>
          <a:lstStyle/>
          <a:p>
            <a:pPr indent="0" marL="0">
              <a:buNone/>
            </a:pPr>
            <a:r>
              <a:rPr lang="en-US" sz="3600" b="1" i="1" dirty="0">
                <a:solidFill>
                  <a:srgbClr val="DC4F4A"/>
                </a:solidFill>
                <a:latin typeface="Georgia" pitchFamily="34" charset="0"/>
                <a:ea typeface="Georgia" pitchFamily="34" charset="-122"/>
                <a:cs typeface="Georgia" pitchFamily="34" charset="-120"/>
              </a:rPr>
              <a:t>01</a:t>
            </a:r>
            <a:endParaRPr lang="en-US" sz="3600" dirty="0"/>
          </a:p>
        </p:txBody>
      </p:sp>
      <p:sp>
        <p:nvSpPr>
          <p:cNvPr id="9" name="Text 7"/>
          <p:cNvSpPr/>
          <p:nvPr/>
        </p:nvSpPr>
        <p:spPr>
          <a:xfrm>
            <a:off x="822960"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Higher defect detection</a:t>
            </a:r>
            <a:endParaRPr lang="en-US" sz="1400" dirty="0"/>
          </a:p>
        </p:txBody>
      </p:sp>
      <p:sp>
        <p:nvSpPr>
          <p:cNvPr id="10" name="Text 8"/>
          <p:cNvSpPr/>
          <p:nvPr/>
        </p:nvSpPr>
        <p:spPr>
          <a:xfrm>
            <a:off x="822960"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Microsoft &amp; IBM case studies report 40–80% fewer pre-release defects compared to projects without TDD.</a:t>
            </a:r>
            <a:endParaRPr lang="en-US" sz="1100" dirty="0"/>
          </a:p>
        </p:txBody>
      </p:sp>
      <p:sp>
        <p:nvSpPr>
          <p:cNvPr id="11" name="Shape 9"/>
          <p:cNvSpPr/>
          <p:nvPr/>
        </p:nvSpPr>
        <p:spPr>
          <a:xfrm>
            <a:off x="4425696"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2" name="Text 10"/>
          <p:cNvSpPr/>
          <p:nvPr/>
        </p:nvSpPr>
        <p:spPr>
          <a:xfrm>
            <a:off x="4700016" y="2651760"/>
            <a:ext cx="1371600" cy="64008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4700016"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Better software design</a:t>
            </a:r>
            <a:endParaRPr lang="en-US" sz="1400" dirty="0"/>
          </a:p>
        </p:txBody>
      </p:sp>
      <p:sp>
        <p:nvSpPr>
          <p:cNvPr id="14" name="Text 12"/>
          <p:cNvSpPr/>
          <p:nvPr/>
        </p:nvSpPr>
        <p:spPr>
          <a:xfrm>
            <a:off x="4700016"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Writing tests first forces small, decoupled, easily testable units — leading to more modular architectures.</a:t>
            </a:r>
            <a:endParaRPr lang="en-US" sz="1100" dirty="0"/>
          </a:p>
        </p:txBody>
      </p:sp>
      <p:sp>
        <p:nvSpPr>
          <p:cNvPr id="15" name="Shape 13"/>
          <p:cNvSpPr/>
          <p:nvPr/>
        </p:nvSpPr>
        <p:spPr>
          <a:xfrm>
            <a:off x="8302752"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6" name="Text 14"/>
          <p:cNvSpPr/>
          <p:nvPr/>
        </p:nvSpPr>
        <p:spPr>
          <a:xfrm>
            <a:off x="8577072" y="2651760"/>
            <a:ext cx="1371600" cy="640080"/>
          </a:xfrm>
          <a:prstGeom prst="rect">
            <a:avLst/>
          </a:prstGeom>
          <a:noFill/>
          <a:ln/>
        </p:spPr>
        <p:txBody>
          <a:bodyPr wrap="square" lIns="0" tIns="0" rIns="0" bIns="0" rtlCol="0" anchor="ctr"/>
          <a:lstStyle/>
          <a:p>
            <a:pPr indent="0" marL="0">
              <a:buNone/>
            </a:pPr>
            <a:r>
              <a:rPr lang="en-US" sz="3600" b="1" i="1" dirty="0">
                <a:solidFill>
                  <a:srgbClr val="E5B855"/>
                </a:solidFill>
                <a:latin typeface="Georgia" pitchFamily="34" charset="0"/>
                <a:ea typeface="Georgia" pitchFamily="34" charset="-122"/>
                <a:cs typeface="Georgia" pitchFamily="34" charset="-120"/>
              </a:rPr>
              <a:t>03</a:t>
            </a:r>
            <a:endParaRPr lang="en-US" sz="3600" dirty="0"/>
          </a:p>
        </p:txBody>
      </p:sp>
      <p:sp>
        <p:nvSpPr>
          <p:cNvPr id="17" name="Text 15"/>
          <p:cNvSpPr/>
          <p:nvPr/>
        </p:nvSpPr>
        <p:spPr>
          <a:xfrm>
            <a:off x="8577072"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Living documentation</a:t>
            </a:r>
            <a:endParaRPr lang="en-US" sz="1400" dirty="0"/>
          </a:p>
        </p:txBody>
      </p:sp>
      <p:sp>
        <p:nvSpPr>
          <p:cNvPr id="18" name="Text 16"/>
          <p:cNvSpPr/>
          <p:nvPr/>
        </p:nvSpPr>
        <p:spPr>
          <a:xfrm>
            <a:off x="8577072"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Each test is an executable specification of how the code should behave — always synchronised with reality.</a:t>
            </a:r>
            <a:endParaRPr lang="en-US" sz="1100" dirty="0"/>
          </a:p>
        </p:txBody>
      </p:sp>
      <p:sp>
        <p:nvSpPr>
          <p:cNvPr id="19" name="Shape 17"/>
          <p:cNvSpPr/>
          <p:nvPr/>
        </p:nvSpPr>
        <p:spPr>
          <a:xfrm>
            <a:off x="548640"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0" name="Text 18"/>
          <p:cNvSpPr/>
          <p:nvPr/>
        </p:nvSpPr>
        <p:spPr>
          <a:xfrm>
            <a:off x="822960" y="4800600"/>
            <a:ext cx="1371600" cy="640080"/>
          </a:xfrm>
          <a:prstGeom prst="rect">
            <a:avLst/>
          </a:prstGeom>
          <a:noFill/>
          <a:ln/>
        </p:spPr>
        <p:txBody>
          <a:bodyPr wrap="square" lIns="0" tIns="0" rIns="0" bIns="0" rtlCol="0" anchor="ctr"/>
          <a:lstStyle/>
          <a:p>
            <a:pPr indent="0" marL="0">
              <a:buNone/>
            </a:pPr>
            <a:r>
              <a:rPr lang="en-US" sz="3600" b="1" i="1" dirty="0">
                <a:solidFill>
                  <a:srgbClr val="DC4F4A"/>
                </a:solidFill>
                <a:latin typeface="Georgia" pitchFamily="34" charset="0"/>
                <a:ea typeface="Georgia" pitchFamily="34" charset="-122"/>
                <a:cs typeface="Georgia" pitchFamily="34" charset="-120"/>
              </a:rPr>
              <a:t>04</a:t>
            </a:r>
            <a:endParaRPr lang="en-US" sz="3600" dirty="0"/>
          </a:p>
        </p:txBody>
      </p:sp>
      <p:sp>
        <p:nvSpPr>
          <p:cNvPr id="21" name="Text 19"/>
          <p:cNvSpPr/>
          <p:nvPr/>
        </p:nvSpPr>
        <p:spPr>
          <a:xfrm>
            <a:off x="822960"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Confidence to refactor</a:t>
            </a:r>
            <a:endParaRPr lang="en-US" sz="1400" dirty="0"/>
          </a:p>
        </p:txBody>
      </p:sp>
      <p:sp>
        <p:nvSpPr>
          <p:cNvPr id="22" name="Text 20"/>
          <p:cNvSpPr/>
          <p:nvPr/>
        </p:nvSpPr>
        <p:spPr>
          <a:xfrm>
            <a:off x="822960"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A comprehensive test suite acts as a safety net — making structural improvements low-risk.</a:t>
            </a:r>
            <a:endParaRPr lang="en-US" sz="1100" dirty="0"/>
          </a:p>
        </p:txBody>
      </p:sp>
      <p:sp>
        <p:nvSpPr>
          <p:cNvPr id="23" name="Shape 21"/>
          <p:cNvSpPr/>
          <p:nvPr/>
        </p:nvSpPr>
        <p:spPr>
          <a:xfrm>
            <a:off x="4425696"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4" name="Text 22"/>
          <p:cNvSpPr/>
          <p:nvPr/>
        </p:nvSpPr>
        <p:spPr>
          <a:xfrm>
            <a:off x="4700016" y="4800600"/>
            <a:ext cx="1371600" cy="64008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05</a:t>
            </a:r>
            <a:endParaRPr lang="en-US" sz="3600" dirty="0"/>
          </a:p>
        </p:txBody>
      </p:sp>
      <p:sp>
        <p:nvSpPr>
          <p:cNvPr id="25" name="Text 23"/>
          <p:cNvSpPr/>
          <p:nvPr/>
        </p:nvSpPr>
        <p:spPr>
          <a:xfrm>
            <a:off x="4700016"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Faster feedback loops</a:t>
            </a:r>
            <a:endParaRPr lang="en-US" sz="1400" dirty="0"/>
          </a:p>
        </p:txBody>
      </p:sp>
      <p:sp>
        <p:nvSpPr>
          <p:cNvPr id="26" name="Text 24"/>
          <p:cNvSpPr/>
          <p:nvPr/>
        </p:nvSpPr>
        <p:spPr>
          <a:xfrm>
            <a:off x="4700016"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Bugs surface in seconds, not days — drastically reducing the cost of fixing them.</a:t>
            </a:r>
            <a:endParaRPr lang="en-US" sz="1100" dirty="0"/>
          </a:p>
        </p:txBody>
      </p:sp>
      <p:sp>
        <p:nvSpPr>
          <p:cNvPr id="27" name="Shape 25"/>
          <p:cNvSpPr/>
          <p:nvPr/>
        </p:nvSpPr>
        <p:spPr>
          <a:xfrm>
            <a:off x="8302752"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8" name="Text 26"/>
          <p:cNvSpPr/>
          <p:nvPr/>
        </p:nvSpPr>
        <p:spPr>
          <a:xfrm>
            <a:off x="8577072" y="4800600"/>
            <a:ext cx="1371600" cy="640080"/>
          </a:xfrm>
          <a:prstGeom prst="rect">
            <a:avLst/>
          </a:prstGeom>
          <a:noFill/>
          <a:ln/>
        </p:spPr>
        <p:txBody>
          <a:bodyPr wrap="square" lIns="0" tIns="0" rIns="0" bIns="0" rtlCol="0" anchor="ctr"/>
          <a:lstStyle/>
          <a:p>
            <a:pPr indent="0" marL="0">
              <a:buNone/>
            </a:pPr>
            <a:r>
              <a:rPr lang="en-US" sz="3600" b="1" i="1" dirty="0">
                <a:solidFill>
                  <a:srgbClr val="E5B855"/>
                </a:solidFill>
                <a:latin typeface="Georgia" pitchFamily="34" charset="0"/>
                <a:ea typeface="Georgia" pitchFamily="34" charset="-122"/>
                <a:cs typeface="Georgia" pitchFamily="34" charset="-120"/>
              </a:rPr>
              <a:t>06</a:t>
            </a:r>
            <a:endParaRPr lang="en-US" sz="3600" dirty="0"/>
          </a:p>
        </p:txBody>
      </p:sp>
      <p:sp>
        <p:nvSpPr>
          <p:cNvPr id="29" name="Text 27"/>
          <p:cNvSpPr/>
          <p:nvPr/>
        </p:nvSpPr>
        <p:spPr>
          <a:xfrm>
            <a:off x="8577072"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Regression protection</a:t>
            </a:r>
            <a:endParaRPr lang="en-US" sz="1400" dirty="0"/>
          </a:p>
        </p:txBody>
      </p:sp>
      <p:sp>
        <p:nvSpPr>
          <p:cNvPr id="30" name="Text 28"/>
          <p:cNvSpPr/>
          <p:nvPr/>
        </p:nvSpPr>
        <p:spPr>
          <a:xfrm>
            <a:off x="8577072"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The growing test suite continuously verifies that new changes do not break existing functionality.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05  ·  TRADE-OFFS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06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Challenges and limitations</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TDD is not a silver bullet. Adoption brings genuine costs that teams must understand and plan for.</a:t>
            </a:r>
            <a:endParaRPr lang="en-US" sz="1400" dirty="0"/>
          </a:p>
        </p:txBody>
      </p:sp>
      <p:sp>
        <p:nvSpPr>
          <p:cNvPr id="7" name="Shape 5"/>
          <p:cNvSpPr/>
          <p:nvPr/>
        </p:nvSpPr>
        <p:spPr>
          <a:xfrm>
            <a:off x="548640" y="2606040"/>
            <a:ext cx="621792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914400" y="2834640"/>
            <a:ext cx="36576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COMMON DIFFICULTIES</a:t>
            </a:r>
            <a:endParaRPr lang="en-US" sz="1000" dirty="0"/>
          </a:p>
        </p:txBody>
      </p:sp>
      <p:sp>
        <p:nvSpPr>
          <p:cNvPr id="9" name="Shape 7"/>
          <p:cNvSpPr/>
          <p:nvPr/>
        </p:nvSpPr>
        <p:spPr>
          <a:xfrm>
            <a:off x="914400" y="3337560"/>
            <a:ext cx="292608" cy="292608"/>
          </a:xfrm>
          <a:prstGeom prst="ellipse">
            <a:avLst/>
          </a:prstGeom>
          <a:solidFill>
            <a:srgbClr val="DC4F4A"/>
          </a:solidFill>
          <a:ln w="12700">
            <a:solidFill>
              <a:srgbClr val="DC4F4A"/>
            </a:solidFill>
            <a:prstDash val="solid"/>
          </a:ln>
        </p:spPr>
      </p:sp>
      <p:sp>
        <p:nvSpPr>
          <p:cNvPr id="10" name="Text 8"/>
          <p:cNvSpPr/>
          <p:nvPr/>
        </p:nvSpPr>
        <p:spPr>
          <a:xfrm>
            <a:off x="914400" y="33375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325880" y="3291840"/>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Steep learning curve. </a:t>
            </a:r>
            <a:pPr indent="0" marL="0">
              <a:buNone/>
            </a:pPr>
            <a:r>
              <a:rPr lang="en-US" sz="1100" dirty="0">
                <a:solidFill>
                  <a:srgbClr val="5A6473"/>
                </a:solidFill>
                <a:latin typeface="Calibri" pitchFamily="34" charset="0"/>
                <a:ea typeface="Calibri" pitchFamily="34" charset="-122"/>
                <a:cs typeface="Calibri" pitchFamily="34" charset="-120"/>
              </a:rPr>
              <a:t>Developers unaccustomed to test-first thinking initially feel slower and less productive.</a:t>
            </a:r>
            <a:endParaRPr lang="en-US" sz="1100" dirty="0"/>
          </a:p>
        </p:txBody>
      </p:sp>
      <p:sp>
        <p:nvSpPr>
          <p:cNvPr id="12" name="Shape 10"/>
          <p:cNvSpPr/>
          <p:nvPr/>
        </p:nvSpPr>
        <p:spPr>
          <a:xfrm>
            <a:off x="914400" y="3904488"/>
            <a:ext cx="292608" cy="292608"/>
          </a:xfrm>
          <a:prstGeom prst="ellipse">
            <a:avLst/>
          </a:prstGeom>
          <a:solidFill>
            <a:srgbClr val="DC4F4A"/>
          </a:solidFill>
          <a:ln w="12700">
            <a:solidFill>
              <a:srgbClr val="DC4F4A"/>
            </a:solidFill>
            <a:prstDash val="solid"/>
          </a:ln>
        </p:spPr>
      </p:sp>
      <p:sp>
        <p:nvSpPr>
          <p:cNvPr id="13" name="Text 11"/>
          <p:cNvSpPr/>
          <p:nvPr/>
        </p:nvSpPr>
        <p:spPr>
          <a:xfrm>
            <a:off x="914400" y="39044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1325880" y="3858768"/>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Higher upfront time investment. </a:t>
            </a:r>
            <a:pPr indent="0" marL="0">
              <a:buNone/>
            </a:pPr>
            <a:r>
              <a:rPr lang="en-US" sz="1100" dirty="0">
                <a:solidFill>
                  <a:srgbClr val="5A6473"/>
                </a:solidFill>
                <a:latin typeface="Calibri" pitchFamily="34" charset="0"/>
                <a:ea typeface="Calibri" pitchFamily="34" charset="-122"/>
                <a:cs typeface="Calibri" pitchFamily="34" charset="-120"/>
              </a:rPr>
              <a:t>Initial development typically takes 15–35% longer; payoff appears in maintenance.</a:t>
            </a:r>
            <a:endParaRPr lang="en-US" sz="1100" dirty="0"/>
          </a:p>
        </p:txBody>
      </p:sp>
      <p:sp>
        <p:nvSpPr>
          <p:cNvPr id="15" name="Shape 13"/>
          <p:cNvSpPr/>
          <p:nvPr/>
        </p:nvSpPr>
        <p:spPr>
          <a:xfrm>
            <a:off x="914400" y="4471416"/>
            <a:ext cx="292608" cy="292608"/>
          </a:xfrm>
          <a:prstGeom prst="ellipse">
            <a:avLst/>
          </a:prstGeom>
          <a:solidFill>
            <a:srgbClr val="DC4F4A"/>
          </a:solidFill>
          <a:ln w="12700">
            <a:solidFill>
              <a:srgbClr val="DC4F4A"/>
            </a:solidFill>
            <a:prstDash val="solid"/>
          </a:ln>
        </p:spPr>
      </p:sp>
      <p:sp>
        <p:nvSpPr>
          <p:cNvPr id="16" name="Text 14"/>
          <p:cNvSpPr/>
          <p:nvPr/>
        </p:nvSpPr>
        <p:spPr>
          <a:xfrm>
            <a:off x="914400" y="44714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325880" y="4425696"/>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Test maintenance overhead. </a:t>
            </a:r>
            <a:pPr indent="0" marL="0">
              <a:buNone/>
            </a:pPr>
            <a:r>
              <a:rPr lang="en-US" sz="1100" dirty="0">
                <a:solidFill>
                  <a:srgbClr val="5A6473"/>
                </a:solidFill>
                <a:latin typeface="Calibri" pitchFamily="34" charset="0"/>
                <a:ea typeface="Calibri" pitchFamily="34" charset="-122"/>
                <a:cs typeface="Calibri" pitchFamily="34" charset="-120"/>
              </a:rPr>
              <a:t>Brittle or over-specified tests must be updated alongside code, adding friction.</a:t>
            </a:r>
            <a:endParaRPr lang="en-US" sz="1100" dirty="0"/>
          </a:p>
        </p:txBody>
      </p:sp>
      <p:sp>
        <p:nvSpPr>
          <p:cNvPr id="18" name="Shape 16"/>
          <p:cNvSpPr/>
          <p:nvPr/>
        </p:nvSpPr>
        <p:spPr>
          <a:xfrm>
            <a:off x="914400" y="5038344"/>
            <a:ext cx="292608" cy="292608"/>
          </a:xfrm>
          <a:prstGeom prst="ellipse">
            <a:avLst/>
          </a:prstGeom>
          <a:solidFill>
            <a:srgbClr val="DC4F4A"/>
          </a:solidFill>
          <a:ln w="12700">
            <a:solidFill>
              <a:srgbClr val="DC4F4A"/>
            </a:solidFill>
            <a:prstDash val="solid"/>
          </a:ln>
        </p:spPr>
      </p:sp>
      <p:sp>
        <p:nvSpPr>
          <p:cNvPr id="19" name="Text 17"/>
          <p:cNvSpPr/>
          <p:nvPr/>
        </p:nvSpPr>
        <p:spPr>
          <a:xfrm>
            <a:off x="914400" y="50383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1325880" y="4992624"/>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Hard to apply to certain domains. </a:t>
            </a:r>
            <a:pPr indent="0" marL="0">
              <a:buNone/>
            </a:pPr>
            <a:r>
              <a:rPr lang="en-US" sz="1100" dirty="0">
                <a:solidFill>
                  <a:srgbClr val="5A6473"/>
                </a:solidFill>
                <a:latin typeface="Calibri" pitchFamily="34" charset="0"/>
                <a:ea typeface="Calibri" pitchFamily="34" charset="-122"/>
                <a:cs typeface="Calibri" pitchFamily="34" charset="-120"/>
              </a:rPr>
              <a:t>UI, GUIs, legacy code, and exploratory data work resist easy unit-testing.</a:t>
            </a:r>
            <a:endParaRPr lang="en-US" sz="1100" dirty="0"/>
          </a:p>
        </p:txBody>
      </p:sp>
      <p:sp>
        <p:nvSpPr>
          <p:cNvPr id="21" name="Shape 19"/>
          <p:cNvSpPr/>
          <p:nvPr/>
        </p:nvSpPr>
        <p:spPr>
          <a:xfrm>
            <a:off x="914400" y="5605272"/>
            <a:ext cx="292608" cy="292608"/>
          </a:xfrm>
          <a:prstGeom prst="ellipse">
            <a:avLst/>
          </a:prstGeom>
          <a:solidFill>
            <a:srgbClr val="DC4F4A"/>
          </a:solidFill>
          <a:ln w="12700">
            <a:solidFill>
              <a:srgbClr val="DC4F4A"/>
            </a:solidFill>
            <a:prstDash val="solid"/>
          </a:ln>
        </p:spPr>
      </p:sp>
      <p:sp>
        <p:nvSpPr>
          <p:cNvPr id="22" name="Text 20"/>
          <p:cNvSpPr/>
          <p:nvPr/>
        </p:nvSpPr>
        <p:spPr>
          <a:xfrm>
            <a:off x="914400" y="56052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1325880" y="5559552"/>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False sense of security. </a:t>
            </a:r>
            <a:pPr indent="0" marL="0">
              <a:buNone/>
            </a:pPr>
            <a:r>
              <a:rPr lang="en-US" sz="1100" dirty="0">
                <a:solidFill>
                  <a:srgbClr val="5A6473"/>
                </a:solidFill>
                <a:latin typeface="Calibri" pitchFamily="34" charset="0"/>
                <a:ea typeface="Calibri" pitchFamily="34" charset="-122"/>
                <a:cs typeface="Calibri" pitchFamily="34" charset="-120"/>
              </a:rPr>
              <a:t>High coverage does not guarantee correctness — tests only check what was thought of.</a:t>
            </a:r>
            <a:endParaRPr lang="en-US" sz="1100" dirty="0"/>
          </a:p>
        </p:txBody>
      </p:sp>
      <p:sp>
        <p:nvSpPr>
          <p:cNvPr id="24" name="Shape 22"/>
          <p:cNvSpPr/>
          <p:nvPr/>
        </p:nvSpPr>
        <p:spPr>
          <a:xfrm>
            <a:off x="6995160" y="2606040"/>
            <a:ext cx="4647895" cy="3657600"/>
          </a:xfrm>
          <a:prstGeom prst="rect">
            <a:avLst/>
          </a:prstGeom>
          <a:solidFill>
            <a:srgbClr val="112237"/>
          </a:solidFill>
          <a:ln w="12700">
            <a:solidFill>
              <a:srgbClr val="112237"/>
            </a:solidFill>
            <a:prstDash val="solid"/>
          </a:ln>
          <a:effectLst>
            <a:outerShdw sx="100000" sy="100000" kx="0" ky="0" algn="bl" rotWithShape="0" blurRad="76200" dist="25400" dir="5400000">
              <a:srgbClr val="000000">
                <a:alpha val="5000"/>
              </a:srgbClr>
            </a:outerShdw>
          </a:effectLst>
        </p:spPr>
      </p:sp>
      <p:sp>
        <p:nvSpPr>
          <p:cNvPr id="25" name="Text 23"/>
          <p:cNvSpPr/>
          <p:nvPr/>
        </p:nvSpPr>
        <p:spPr>
          <a:xfrm>
            <a:off x="7360920" y="2834640"/>
            <a:ext cx="3916375"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IMPORTANT CAVEAT</a:t>
            </a:r>
            <a:endParaRPr lang="en-US" sz="1000" dirty="0"/>
          </a:p>
        </p:txBody>
      </p:sp>
      <p:sp>
        <p:nvSpPr>
          <p:cNvPr id="26" name="Text 24"/>
          <p:cNvSpPr/>
          <p:nvPr/>
        </p:nvSpPr>
        <p:spPr>
          <a:xfrm>
            <a:off x="7360920" y="3246120"/>
            <a:ext cx="3916375" cy="12801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Tests verify what you wrote — not what you forgot.</a:t>
            </a:r>
            <a:endParaRPr lang="en-US" sz="1900" dirty="0"/>
          </a:p>
        </p:txBody>
      </p:sp>
      <p:sp>
        <p:nvSpPr>
          <p:cNvPr id="27" name="Text 25"/>
          <p:cNvSpPr/>
          <p:nvPr/>
        </p:nvSpPr>
        <p:spPr>
          <a:xfrm>
            <a:off x="7360920" y="4389120"/>
            <a:ext cx="3916375" cy="1005840"/>
          </a:xfrm>
          <a:prstGeom prst="rect">
            <a:avLst/>
          </a:prstGeom>
          <a:noFill/>
          <a:ln/>
        </p:spPr>
        <p:txBody>
          <a:bodyPr wrap="square" lIns="0" tIns="0" rIns="0" bIns="0" rtlCol="0" anchor="t"/>
          <a:lstStyle/>
          <a:p>
            <a:pPr indent="0" marL="0">
              <a:buNone/>
            </a:pPr>
            <a:r>
              <a:rPr lang="en-US" sz="1200" dirty="0">
                <a:solidFill>
                  <a:srgbClr val="C8D5E0"/>
                </a:solidFill>
                <a:latin typeface="Calibri" pitchFamily="34" charset="0"/>
                <a:ea typeface="Calibri" pitchFamily="34" charset="-122"/>
                <a:cs typeface="Calibri" pitchFamily="34" charset="-120"/>
              </a:rPr>
              <a:t>TDD complements but does not replace other quality activities. Code review, integration testing, exploratory testing, and security analysis remain essential.</a:t>
            </a:r>
            <a:endParaRPr lang="en-US" sz="1200" dirty="0"/>
          </a:p>
        </p:txBody>
      </p:sp>
      <p:sp>
        <p:nvSpPr>
          <p:cNvPr id="28" name="Shape 26"/>
          <p:cNvSpPr/>
          <p:nvPr/>
        </p:nvSpPr>
        <p:spPr>
          <a:xfrm>
            <a:off x="7360920" y="5394960"/>
            <a:ext cx="457200" cy="0"/>
          </a:xfrm>
          <a:prstGeom prst="line">
            <a:avLst/>
          </a:prstGeom>
          <a:noFill/>
          <a:ln w="19050">
            <a:solidFill>
              <a:srgbClr val="E5B855"/>
            </a:solidFill>
            <a:prstDash val="solid"/>
          </a:ln>
        </p:spPr>
      </p:sp>
      <p:sp>
        <p:nvSpPr>
          <p:cNvPr id="29" name="Text 27"/>
          <p:cNvSpPr/>
          <p:nvPr/>
        </p:nvSpPr>
        <p:spPr>
          <a:xfrm>
            <a:off x="7360920" y="5532120"/>
            <a:ext cx="3916375" cy="640080"/>
          </a:xfrm>
          <a:prstGeom prst="rect">
            <a:avLst/>
          </a:prstGeom>
          <a:noFill/>
          <a:ln/>
        </p:spPr>
        <p:txBody>
          <a:bodyPr wrap="square" lIns="0" tIns="0" rIns="0" bIns="0" rtlCol="0" anchor="t"/>
          <a:lstStyle/>
          <a:p>
            <a:pPr indent="0" marL="0">
              <a:buNone/>
            </a:pPr>
            <a:r>
              <a:rPr lang="en-US" sz="1100" i="1" dirty="0">
                <a:solidFill>
                  <a:srgbClr val="8B95A6"/>
                </a:solidFill>
                <a:latin typeface="Georgia" pitchFamily="34" charset="0"/>
                <a:ea typeface="Georgia" pitchFamily="34" charset="-122"/>
                <a:cs typeface="Georgia" pitchFamily="34" charset="-120"/>
              </a:rPr>
              <a:t>“TDD is a design tool that happens to leave behind a useful test suite — not a testing strategy on its own.”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06  ·  QUALITY IMPACT</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07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How TDD shapes software quality</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Empirical research links TDD to measurable improvements across the ISO/IEC 25010 quality model.</a:t>
            </a:r>
            <a:endParaRPr lang="en-US" sz="1400" dirty="0"/>
          </a:p>
        </p:txBody>
      </p:sp>
      <p:sp>
        <p:nvSpPr>
          <p:cNvPr id="7" name="Shape 5"/>
          <p:cNvSpPr/>
          <p:nvPr/>
        </p:nvSpPr>
        <p:spPr>
          <a:xfrm>
            <a:off x="548640" y="2606040"/>
            <a:ext cx="384048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Shape 6"/>
          <p:cNvSpPr/>
          <p:nvPr/>
        </p:nvSpPr>
        <p:spPr>
          <a:xfrm>
            <a:off x="548640" y="2606040"/>
            <a:ext cx="3840480" cy="45720"/>
          </a:xfrm>
          <a:prstGeom prst="rect">
            <a:avLst/>
          </a:prstGeom>
          <a:solidFill>
            <a:srgbClr val="DC4F4A"/>
          </a:solidFill>
          <a:ln w="12700">
            <a:solidFill>
              <a:srgbClr val="DC4F4A"/>
            </a:solidFill>
            <a:prstDash val="solid"/>
          </a:ln>
        </p:spPr>
      </p:sp>
      <p:sp>
        <p:nvSpPr>
          <p:cNvPr id="9" name="Text 7"/>
          <p:cNvSpPr/>
          <p:nvPr/>
        </p:nvSpPr>
        <p:spPr>
          <a:xfrm>
            <a:off x="868680" y="2834640"/>
            <a:ext cx="32004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EMPIRICAL EVIDENCE</a:t>
            </a:r>
            <a:endParaRPr lang="en-US" sz="1000" dirty="0"/>
          </a:p>
        </p:txBody>
      </p:sp>
      <p:sp>
        <p:nvSpPr>
          <p:cNvPr id="10" name="Text 8"/>
          <p:cNvSpPr/>
          <p:nvPr/>
        </p:nvSpPr>
        <p:spPr>
          <a:xfrm>
            <a:off x="868680" y="3200400"/>
            <a:ext cx="3200400" cy="777240"/>
          </a:xfrm>
          <a:prstGeom prst="rect">
            <a:avLst/>
          </a:prstGeom>
          <a:noFill/>
          <a:ln/>
        </p:spPr>
        <p:txBody>
          <a:bodyPr wrap="square" lIns="0" tIns="0" rIns="0" bIns="0" rtlCol="0" anchor="ctr"/>
          <a:lstStyle/>
          <a:p>
            <a:pPr indent="0" marL="0">
              <a:buNone/>
            </a:pPr>
            <a:r>
              <a:rPr lang="en-US" sz="1700" b="1" dirty="0">
                <a:solidFill>
                  <a:srgbClr val="0E1B2D"/>
                </a:solidFill>
                <a:latin typeface="Georgia" pitchFamily="34" charset="0"/>
                <a:ea typeface="Georgia" pitchFamily="34" charset="-122"/>
                <a:cs typeface="Georgia" pitchFamily="34" charset="-120"/>
              </a:rPr>
              <a:t>Industrial case studies at</a:t>
            </a:r>
            <a:endParaRPr lang="en-US" sz="1700" dirty="0"/>
          </a:p>
          <a:p>
            <a:pPr indent="0" marL="0">
              <a:buNone/>
            </a:pPr>
            <a:r>
              <a:rPr lang="en-US" sz="1700" b="1" dirty="0">
                <a:solidFill>
                  <a:srgbClr val="0E1B2D"/>
                </a:solidFill>
                <a:latin typeface="Georgia" pitchFamily="34" charset="0"/>
                <a:ea typeface="Georgia" pitchFamily="34" charset="-122"/>
                <a:cs typeface="Georgia" pitchFamily="34" charset="-120"/>
              </a:rPr>
              <a:t>Microsoft &amp; IBM</a:t>
            </a:r>
            <a:endParaRPr lang="en-US" sz="1700" dirty="0"/>
          </a:p>
        </p:txBody>
      </p:sp>
      <p:sp>
        <p:nvSpPr>
          <p:cNvPr id="11" name="Text 9"/>
          <p:cNvSpPr/>
          <p:nvPr/>
        </p:nvSpPr>
        <p:spPr>
          <a:xfrm>
            <a:off x="868680" y="4023360"/>
            <a:ext cx="3200400" cy="777240"/>
          </a:xfrm>
          <a:prstGeom prst="rect">
            <a:avLst/>
          </a:prstGeom>
          <a:noFill/>
          <a:ln/>
        </p:spPr>
        <p:txBody>
          <a:bodyPr wrap="square" lIns="0" tIns="0" rIns="0" bIns="0" rtlCol="0" anchor="ctr"/>
          <a:lstStyle/>
          <a:p>
            <a:pPr indent="0" marL="0">
              <a:buNone/>
            </a:pPr>
            <a:r>
              <a:rPr lang="en-US" sz="5000" b="1" i="1" dirty="0">
                <a:solidFill>
                  <a:srgbClr val="DC4F4A"/>
                </a:solidFill>
                <a:latin typeface="Georgia" pitchFamily="34" charset="0"/>
                <a:ea typeface="Georgia" pitchFamily="34" charset="-122"/>
                <a:cs typeface="Georgia" pitchFamily="34" charset="-120"/>
              </a:rPr>
              <a:t>40–80%</a:t>
            </a:r>
            <a:endParaRPr lang="en-US" sz="5000" dirty="0"/>
          </a:p>
        </p:txBody>
      </p:sp>
      <p:sp>
        <p:nvSpPr>
          <p:cNvPr id="12" name="Text 10"/>
          <p:cNvSpPr/>
          <p:nvPr/>
        </p:nvSpPr>
        <p:spPr>
          <a:xfrm>
            <a:off x="868680" y="4846320"/>
            <a:ext cx="3200400" cy="548640"/>
          </a:xfrm>
          <a:prstGeom prst="rect">
            <a:avLst/>
          </a:prstGeom>
          <a:noFill/>
          <a:ln/>
        </p:spPr>
        <p:txBody>
          <a:bodyPr wrap="square" lIns="0" tIns="0" rIns="0" bIns="0" rtlCol="0" anchor="t"/>
          <a:lstStyle/>
          <a:p>
            <a:pPr indent="0" marL="0">
              <a:buNone/>
            </a:pPr>
            <a:r>
              <a:rPr lang="en-US" sz="1000" dirty="0">
                <a:solidFill>
                  <a:srgbClr val="5A6473"/>
                </a:solidFill>
                <a:latin typeface="Calibri" pitchFamily="34" charset="0"/>
                <a:ea typeface="Calibri" pitchFamily="34" charset="-122"/>
                <a:cs typeface="Calibri" pitchFamily="34" charset="-120"/>
              </a:rPr>
              <a:t>fewer pre-release defects compared with similar projects not using TDD (Nagappan et al., 2008).</a:t>
            </a:r>
            <a:endParaRPr lang="en-US" sz="1000" dirty="0"/>
          </a:p>
        </p:txBody>
      </p:sp>
      <p:sp>
        <p:nvSpPr>
          <p:cNvPr id="13" name="Text 11"/>
          <p:cNvSpPr/>
          <p:nvPr/>
        </p:nvSpPr>
        <p:spPr>
          <a:xfrm>
            <a:off x="868680" y="5394960"/>
            <a:ext cx="3200400" cy="54864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+15–35%</a:t>
            </a:r>
            <a:endParaRPr lang="en-US" sz="3600" dirty="0"/>
          </a:p>
        </p:txBody>
      </p:sp>
      <p:sp>
        <p:nvSpPr>
          <p:cNvPr id="14" name="Text 12"/>
          <p:cNvSpPr/>
          <p:nvPr/>
        </p:nvSpPr>
        <p:spPr>
          <a:xfrm>
            <a:off x="868680" y="5943600"/>
            <a:ext cx="3200400" cy="365760"/>
          </a:xfrm>
          <a:prstGeom prst="rect">
            <a:avLst/>
          </a:prstGeom>
          <a:noFill/>
          <a:ln/>
        </p:spPr>
        <p:txBody>
          <a:bodyPr wrap="square" lIns="0" tIns="0" rIns="0" bIns="0" rtlCol="0" anchor="t"/>
          <a:lstStyle/>
          <a:p>
            <a:pPr indent="0" marL="0">
              <a:buNone/>
            </a:pPr>
            <a:r>
              <a:rPr lang="en-US" sz="1000" dirty="0">
                <a:solidFill>
                  <a:srgbClr val="5A6473"/>
                </a:solidFill>
                <a:latin typeface="Calibri" pitchFamily="34" charset="0"/>
                <a:ea typeface="Calibri" pitchFamily="34" charset="-122"/>
                <a:cs typeface="Calibri" pitchFamily="34" charset="-120"/>
              </a:rPr>
              <a:t>initial development time — offset by lower long-term maintenance and debugging cost.</a:t>
            </a:r>
            <a:endParaRPr lang="en-US" sz="1000" dirty="0"/>
          </a:p>
        </p:txBody>
      </p:sp>
      <p:sp>
        <p:nvSpPr>
          <p:cNvPr id="15" name="Shape 13"/>
          <p:cNvSpPr/>
          <p:nvPr/>
        </p:nvSpPr>
        <p:spPr>
          <a:xfrm>
            <a:off x="4617720" y="2606040"/>
            <a:ext cx="7025335"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6" name="Text 14"/>
          <p:cNvSpPr/>
          <p:nvPr/>
        </p:nvSpPr>
        <p:spPr>
          <a:xfrm>
            <a:off x="4937760" y="2834640"/>
            <a:ext cx="6385255" cy="274320"/>
          </a:xfrm>
          <a:prstGeom prst="rect">
            <a:avLst/>
          </a:prstGeom>
          <a:noFill/>
          <a:ln/>
        </p:spPr>
        <p:txBody>
          <a:bodyPr wrap="square" lIns="0" tIns="0" rIns="0" bIns="0" rtlCol="0" anchor="ctr"/>
          <a:lstStyle/>
          <a:p>
            <a:pPr indent="0" marL="0">
              <a:buNone/>
            </a:pPr>
            <a:r>
              <a:rPr lang="en-US" sz="1000" b="1" spc="300" kern="0" dirty="0">
                <a:solidFill>
                  <a:srgbClr val="0E1B2D"/>
                </a:solidFill>
                <a:latin typeface="Consolas" pitchFamily="34" charset="0"/>
                <a:ea typeface="Consolas" pitchFamily="34" charset="-122"/>
                <a:cs typeface="Consolas" pitchFamily="34" charset="-120"/>
              </a:rPr>
              <a:t>QUALITY ATTRIBUTES INFLUENCED</a:t>
            </a:r>
            <a:endParaRPr lang="en-US" sz="1000" dirty="0"/>
          </a:p>
        </p:txBody>
      </p:sp>
      <p:sp>
        <p:nvSpPr>
          <p:cNvPr id="17" name="Text 15"/>
          <p:cNvSpPr/>
          <p:nvPr/>
        </p:nvSpPr>
        <p:spPr>
          <a:xfrm>
            <a:off x="4937760" y="3154680"/>
            <a:ext cx="6385255" cy="457200"/>
          </a:xfrm>
          <a:prstGeom prst="rect">
            <a:avLst/>
          </a:prstGeom>
          <a:noFill/>
          <a:ln/>
        </p:spPr>
        <p:txBody>
          <a:bodyPr wrap="square" lIns="0" tIns="0" rIns="0" bIns="0" rtlCol="0" anchor="ctr"/>
          <a:lstStyle/>
          <a:p>
            <a:pPr indent="0" marL="0">
              <a:buNone/>
            </a:pPr>
            <a:r>
              <a:rPr lang="en-US" sz="1800" b="1" dirty="0">
                <a:solidFill>
                  <a:srgbClr val="0E1B2D"/>
                </a:solidFill>
                <a:latin typeface="Georgia" pitchFamily="34" charset="0"/>
                <a:ea typeface="Georgia" pitchFamily="34" charset="-122"/>
                <a:cs typeface="Georgia" pitchFamily="34" charset="-120"/>
              </a:rPr>
              <a:t>Where the gains appear (ISO/IEC 25010)</a:t>
            </a:r>
            <a:endParaRPr lang="en-US" sz="1800" dirty="0"/>
          </a:p>
        </p:txBody>
      </p:sp>
      <p:sp>
        <p:nvSpPr>
          <p:cNvPr id="18" name="Text 16"/>
          <p:cNvSpPr/>
          <p:nvPr/>
        </p:nvSpPr>
        <p:spPr>
          <a:xfrm>
            <a:off x="4937760" y="3657600"/>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Reliability</a:t>
            </a:r>
            <a:endParaRPr lang="en-US" sz="1100" dirty="0"/>
          </a:p>
        </p:txBody>
      </p:sp>
      <p:sp>
        <p:nvSpPr>
          <p:cNvPr id="19" name="Shape 17"/>
          <p:cNvSpPr/>
          <p:nvPr/>
        </p:nvSpPr>
        <p:spPr>
          <a:xfrm>
            <a:off x="6172200" y="3749040"/>
            <a:ext cx="4190695" cy="164592"/>
          </a:xfrm>
          <a:prstGeom prst="rect">
            <a:avLst/>
          </a:prstGeom>
          <a:solidFill>
            <a:srgbClr val="EDE6DA"/>
          </a:solidFill>
          <a:ln w="12700">
            <a:solidFill>
              <a:srgbClr val="EDE6DA"/>
            </a:solidFill>
            <a:prstDash val="solid"/>
          </a:ln>
        </p:spPr>
      </p:sp>
      <p:sp>
        <p:nvSpPr>
          <p:cNvPr id="20" name="Shape 18"/>
          <p:cNvSpPr/>
          <p:nvPr/>
        </p:nvSpPr>
        <p:spPr>
          <a:xfrm>
            <a:off x="6172200" y="3749040"/>
            <a:ext cx="3562091" cy="164592"/>
          </a:xfrm>
          <a:prstGeom prst="rect">
            <a:avLst/>
          </a:prstGeom>
          <a:solidFill>
            <a:srgbClr val="DC4F4A"/>
          </a:solidFill>
          <a:ln w="12700">
            <a:solidFill>
              <a:srgbClr val="DC4F4A"/>
            </a:solidFill>
            <a:prstDash val="solid"/>
          </a:ln>
        </p:spPr>
      </p:sp>
      <p:sp>
        <p:nvSpPr>
          <p:cNvPr id="21" name="Text 19"/>
          <p:cNvSpPr/>
          <p:nvPr/>
        </p:nvSpPr>
        <p:spPr>
          <a:xfrm>
            <a:off x="10454335" y="3657600"/>
            <a:ext cx="1097280" cy="274320"/>
          </a:xfrm>
          <a:prstGeom prst="rect">
            <a:avLst/>
          </a:prstGeom>
          <a:noFill/>
          <a:ln/>
        </p:spPr>
        <p:txBody>
          <a:bodyPr wrap="square" lIns="0" tIns="0" rIns="0" bIns="0" rtlCol="0" anchor="ctr"/>
          <a:lstStyle/>
          <a:p>
            <a:pPr indent="0" marL="0">
              <a:buNone/>
            </a:pPr>
            <a:r>
              <a:rPr lang="en-US" sz="1000" i="1" dirty="0">
                <a:solidFill>
                  <a:srgbClr val="DC4F4A"/>
                </a:solidFill>
                <a:latin typeface="Calibri" pitchFamily="34" charset="0"/>
                <a:ea typeface="Calibri" pitchFamily="34" charset="-122"/>
                <a:cs typeface="Calibri" pitchFamily="34" charset="-120"/>
              </a:rPr>
              <a:t>High</a:t>
            </a:r>
            <a:endParaRPr lang="en-US" sz="1000" dirty="0"/>
          </a:p>
        </p:txBody>
      </p:sp>
      <p:sp>
        <p:nvSpPr>
          <p:cNvPr id="22" name="Text 20"/>
          <p:cNvSpPr/>
          <p:nvPr/>
        </p:nvSpPr>
        <p:spPr>
          <a:xfrm>
            <a:off x="4937760" y="3986784"/>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Maintainability</a:t>
            </a:r>
            <a:endParaRPr lang="en-US" sz="1100" dirty="0"/>
          </a:p>
        </p:txBody>
      </p:sp>
      <p:sp>
        <p:nvSpPr>
          <p:cNvPr id="23" name="Shape 21"/>
          <p:cNvSpPr/>
          <p:nvPr/>
        </p:nvSpPr>
        <p:spPr>
          <a:xfrm>
            <a:off x="6172200" y="4078224"/>
            <a:ext cx="4190695" cy="164592"/>
          </a:xfrm>
          <a:prstGeom prst="rect">
            <a:avLst/>
          </a:prstGeom>
          <a:solidFill>
            <a:srgbClr val="EDE6DA"/>
          </a:solidFill>
          <a:ln w="12700">
            <a:solidFill>
              <a:srgbClr val="EDE6DA"/>
            </a:solidFill>
            <a:prstDash val="solid"/>
          </a:ln>
        </p:spPr>
      </p:sp>
      <p:sp>
        <p:nvSpPr>
          <p:cNvPr id="24" name="Shape 22"/>
          <p:cNvSpPr/>
          <p:nvPr/>
        </p:nvSpPr>
        <p:spPr>
          <a:xfrm>
            <a:off x="6172200" y="4078224"/>
            <a:ext cx="3562091" cy="164592"/>
          </a:xfrm>
          <a:prstGeom prst="rect">
            <a:avLst/>
          </a:prstGeom>
          <a:solidFill>
            <a:srgbClr val="DC4F4A"/>
          </a:solidFill>
          <a:ln w="12700">
            <a:solidFill>
              <a:srgbClr val="DC4F4A"/>
            </a:solidFill>
            <a:prstDash val="solid"/>
          </a:ln>
        </p:spPr>
      </p:sp>
      <p:sp>
        <p:nvSpPr>
          <p:cNvPr id="25" name="Text 23"/>
          <p:cNvSpPr/>
          <p:nvPr/>
        </p:nvSpPr>
        <p:spPr>
          <a:xfrm>
            <a:off x="10454335" y="3986784"/>
            <a:ext cx="1097280" cy="274320"/>
          </a:xfrm>
          <a:prstGeom prst="rect">
            <a:avLst/>
          </a:prstGeom>
          <a:noFill/>
          <a:ln/>
        </p:spPr>
        <p:txBody>
          <a:bodyPr wrap="square" lIns="0" tIns="0" rIns="0" bIns="0" rtlCol="0" anchor="ctr"/>
          <a:lstStyle/>
          <a:p>
            <a:pPr indent="0" marL="0">
              <a:buNone/>
            </a:pPr>
            <a:r>
              <a:rPr lang="en-US" sz="1000" i="1" dirty="0">
                <a:solidFill>
                  <a:srgbClr val="DC4F4A"/>
                </a:solidFill>
                <a:latin typeface="Calibri" pitchFamily="34" charset="0"/>
                <a:ea typeface="Calibri" pitchFamily="34" charset="-122"/>
                <a:cs typeface="Calibri" pitchFamily="34" charset="-120"/>
              </a:rPr>
              <a:t>High</a:t>
            </a:r>
            <a:endParaRPr lang="en-US" sz="1000" dirty="0"/>
          </a:p>
        </p:txBody>
      </p:sp>
      <p:sp>
        <p:nvSpPr>
          <p:cNvPr id="26" name="Text 24"/>
          <p:cNvSpPr/>
          <p:nvPr/>
        </p:nvSpPr>
        <p:spPr>
          <a:xfrm>
            <a:off x="4937760" y="4315968"/>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Functional Suitability</a:t>
            </a:r>
            <a:endParaRPr lang="en-US" sz="1100" dirty="0"/>
          </a:p>
        </p:txBody>
      </p:sp>
      <p:sp>
        <p:nvSpPr>
          <p:cNvPr id="27" name="Shape 25"/>
          <p:cNvSpPr/>
          <p:nvPr/>
        </p:nvSpPr>
        <p:spPr>
          <a:xfrm>
            <a:off x="6172200" y="4407408"/>
            <a:ext cx="4190695" cy="164592"/>
          </a:xfrm>
          <a:prstGeom prst="rect">
            <a:avLst/>
          </a:prstGeom>
          <a:solidFill>
            <a:srgbClr val="EDE6DA"/>
          </a:solidFill>
          <a:ln w="12700">
            <a:solidFill>
              <a:srgbClr val="EDE6DA"/>
            </a:solidFill>
            <a:prstDash val="solid"/>
          </a:ln>
        </p:spPr>
      </p:sp>
      <p:sp>
        <p:nvSpPr>
          <p:cNvPr id="28" name="Shape 26"/>
          <p:cNvSpPr/>
          <p:nvPr/>
        </p:nvSpPr>
        <p:spPr>
          <a:xfrm>
            <a:off x="6172200" y="4407408"/>
            <a:ext cx="3143021" cy="164592"/>
          </a:xfrm>
          <a:prstGeom prst="rect">
            <a:avLst/>
          </a:prstGeom>
          <a:solidFill>
            <a:srgbClr val="3FA89A"/>
          </a:solidFill>
          <a:ln w="12700">
            <a:solidFill>
              <a:srgbClr val="3FA89A"/>
            </a:solidFill>
            <a:prstDash val="solid"/>
          </a:ln>
        </p:spPr>
      </p:sp>
      <p:sp>
        <p:nvSpPr>
          <p:cNvPr id="29" name="Text 27"/>
          <p:cNvSpPr/>
          <p:nvPr/>
        </p:nvSpPr>
        <p:spPr>
          <a:xfrm>
            <a:off x="10454335" y="4315968"/>
            <a:ext cx="1097280" cy="274320"/>
          </a:xfrm>
          <a:prstGeom prst="rect">
            <a:avLst/>
          </a:prstGeom>
          <a:noFill/>
          <a:ln/>
        </p:spPr>
        <p:txBody>
          <a:bodyPr wrap="square" lIns="0" tIns="0" rIns="0" bIns="0" rtlCol="0" anchor="ctr"/>
          <a:lstStyle/>
          <a:p>
            <a:pPr indent="0" marL="0">
              <a:buNone/>
            </a:pPr>
            <a:r>
              <a:rPr lang="en-US" sz="1000" i="1" dirty="0">
                <a:solidFill>
                  <a:srgbClr val="3FA89A"/>
                </a:solidFill>
                <a:latin typeface="Calibri" pitchFamily="34" charset="0"/>
                <a:ea typeface="Calibri" pitchFamily="34" charset="-122"/>
                <a:cs typeface="Calibri" pitchFamily="34" charset="-120"/>
              </a:rPr>
              <a:t>Strong</a:t>
            </a:r>
            <a:endParaRPr lang="en-US" sz="1000" dirty="0"/>
          </a:p>
        </p:txBody>
      </p:sp>
      <p:sp>
        <p:nvSpPr>
          <p:cNvPr id="30" name="Text 28"/>
          <p:cNvSpPr/>
          <p:nvPr/>
        </p:nvSpPr>
        <p:spPr>
          <a:xfrm>
            <a:off x="4937760" y="4645152"/>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Portability</a:t>
            </a:r>
            <a:endParaRPr lang="en-US" sz="1100" dirty="0"/>
          </a:p>
        </p:txBody>
      </p:sp>
      <p:sp>
        <p:nvSpPr>
          <p:cNvPr id="31" name="Shape 29"/>
          <p:cNvSpPr/>
          <p:nvPr/>
        </p:nvSpPr>
        <p:spPr>
          <a:xfrm>
            <a:off x="6172200" y="4736592"/>
            <a:ext cx="4190695" cy="164592"/>
          </a:xfrm>
          <a:prstGeom prst="rect">
            <a:avLst/>
          </a:prstGeom>
          <a:solidFill>
            <a:srgbClr val="EDE6DA"/>
          </a:solidFill>
          <a:ln w="12700">
            <a:solidFill>
              <a:srgbClr val="EDE6DA"/>
            </a:solidFill>
            <a:prstDash val="solid"/>
          </a:ln>
        </p:spPr>
      </p:sp>
      <p:sp>
        <p:nvSpPr>
          <p:cNvPr id="32" name="Shape 30"/>
          <p:cNvSpPr/>
          <p:nvPr/>
        </p:nvSpPr>
        <p:spPr>
          <a:xfrm>
            <a:off x="6172200" y="4736592"/>
            <a:ext cx="2304882" cy="164592"/>
          </a:xfrm>
          <a:prstGeom prst="rect">
            <a:avLst/>
          </a:prstGeom>
          <a:solidFill>
            <a:srgbClr val="3FA89A"/>
          </a:solidFill>
          <a:ln w="12700">
            <a:solidFill>
              <a:srgbClr val="3FA89A"/>
            </a:solidFill>
            <a:prstDash val="solid"/>
          </a:ln>
        </p:spPr>
      </p:sp>
      <p:sp>
        <p:nvSpPr>
          <p:cNvPr id="33" name="Text 31"/>
          <p:cNvSpPr/>
          <p:nvPr/>
        </p:nvSpPr>
        <p:spPr>
          <a:xfrm>
            <a:off x="10454335" y="4645152"/>
            <a:ext cx="1097280" cy="274320"/>
          </a:xfrm>
          <a:prstGeom prst="rect">
            <a:avLst/>
          </a:prstGeom>
          <a:noFill/>
          <a:ln/>
        </p:spPr>
        <p:txBody>
          <a:bodyPr wrap="square" lIns="0" tIns="0" rIns="0" bIns="0" rtlCol="0" anchor="ctr"/>
          <a:lstStyle/>
          <a:p>
            <a:pPr indent="0" marL="0">
              <a:buNone/>
            </a:pPr>
            <a:r>
              <a:rPr lang="en-US" sz="1000" i="1" dirty="0">
                <a:solidFill>
                  <a:srgbClr val="3FA89A"/>
                </a:solidFill>
                <a:latin typeface="Calibri" pitchFamily="34" charset="0"/>
                <a:ea typeface="Calibri" pitchFamily="34" charset="-122"/>
                <a:cs typeface="Calibri" pitchFamily="34" charset="-120"/>
              </a:rPr>
              <a:t>Moderate</a:t>
            </a:r>
            <a:endParaRPr lang="en-US" sz="1000" dirty="0"/>
          </a:p>
        </p:txBody>
      </p:sp>
      <p:sp>
        <p:nvSpPr>
          <p:cNvPr id="34" name="Text 32"/>
          <p:cNvSpPr/>
          <p:nvPr/>
        </p:nvSpPr>
        <p:spPr>
          <a:xfrm>
            <a:off x="4937760" y="4974336"/>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Performance</a:t>
            </a:r>
            <a:endParaRPr lang="en-US" sz="1100" dirty="0"/>
          </a:p>
        </p:txBody>
      </p:sp>
      <p:sp>
        <p:nvSpPr>
          <p:cNvPr id="35" name="Shape 33"/>
          <p:cNvSpPr/>
          <p:nvPr/>
        </p:nvSpPr>
        <p:spPr>
          <a:xfrm>
            <a:off x="6172200" y="5065776"/>
            <a:ext cx="4190695" cy="164592"/>
          </a:xfrm>
          <a:prstGeom prst="rect">
            <a:avLst/>
          </a:prstGeom>
          <a:solidFill>
            <a:srgbClr val="EDE6DA"/>
          </a:solidFill>
          <a:ln w="12700">
            <a:solidFill>
              <a:srgbClr val="EDE6DA"/>
            </a:solidFill>
            <a:prstDash val="solid"/>
          </a:ln>
        </p:spPr>
      </p:sp>
      <p:sp>
        <p:nvSpPr>
          <p:cNvPr id="36" name="Shape 34"/>
          <p:cNvSpPr/>
          <p:nvPr/>
        </p:nvSpPr>
        <p:spPr>
          <a:xfrm>
            <a:off x="6172200" y="5065776"/>
            <a:ext cx="1466743" cy="164592"/>
          </a:xfrm>
          <a:prstGeom prst="rect">
            <a:avLst/>
          </a:prstGeom>
          <a:solidFill>
            <a:srgbClr val="E5B855"/>
          </a:solidFill>
          <a:ln w="12700">
            <a:solidFill>
              <a:srgbClr val="E5B855"/>
            </a:solidFill>
            <a:prstDash val="solid"/>
          </a:ln>
        </p:spPr>
      </p:sp>
      <p:sp>
        <p:nvSpPr>
          <p:cNvPr id="37" name="Text 35"/>
          <p:cNvSpPr/>
          <p:nvPr/>
        </p:nvSpPr>
        <p:spPr>
          <a:xfrm>
            <a:off x="10454335" y="4974336"/>
            <a:ext cx="1097280" cy="274320"/>
          </a:xfrm>
          <a:prstGeom prst="rect">
            <a:avLst/>
          </a:prstGeom>
          <a:noFill/>
          <a:ln/>
        </p:spPr>
        <p:txBody>
          <a:bodyPr wrap="square" lIns="0" tIns="0" rIns="0" bIns="0" rtlCol="0" anchor="ctr"/>
          <a:lstStyle/>
          <a:p>
            <a:pPr indent="0" marL="0">
              <a:buNone/>
            </a:pPr>
            <a:r>
              <a:rPr lang="en-US" sz="1000" i="1" dirty="0">
                <a:solidFill>
                  <a:srgbClr val="E5B855"/>
                </a:solidFill>
                <a:latin typeface="Calibri" pitchFamily="34" charset="0"/>
                <a:ea typeface="Calibri" pitchFamily="34" charset="-122"/>
                <a:cs typeface="Calibri" pitchFamily="34" charset="-120"/>
              </a:rPr>
              <a:t>Indirect</a:t>
            </a:r>
            <a:endParaRPr lang="en-US" sz="1000" dirty="0"/>
          </a:p>
        </p:txBody>
      </p:sp>
      <p:sp>
        <p:nvSpPr>
          <p:cNvPr id="38" name="Text 36"/>
          <p:cNvSpPr/>
          <p:nvPr/>
        </p:nvSpPr>
        <p:spPr>
          <a:xfrm>
            <a:off x="4937760" y="5303520"/>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Security</a:t>
            </a:r>
            <a:endParaRPr lang="en-US" sz="1100" dirty="0"/>
          </a:p>
        </p:txBody>
      </p:sp>
      <p:sp>
        <p:nvSpPr>
          <p:cNvPr id="39" name="Shape 37"/>
          <p:cNvSpPr/>
          <p:nvPr/>
        </p:nvSpPr>
        <p:spPr>
          <a:xfrm>
            <a:off x="6172200" y="5394960"/>
            <a:ext cx="4190695" cy="164592"/>
          </a:xfrm>
          <a:prstGeom prst="rect">
            <a:avLst/>
          </a:prstGeom>
          <a:solidFill>
            <a:srgbClr val="EDE6DA"/>
          </a:solidFill>
          <a:ln w="12700">
            <a:solidFill>
              <a:srgbClr val="EDE6DA"/>
            </a:solidFill>
            <a:prstDash val="solid"/>
          </a:ln>
        </p:spPr>
      </p:sp>
      <p:sp>
        <p:nvSpPr>
          <p:cNvPr id="40" name="Shape 38"/>
          <p:cNvSpPr/>
          <p:nvPr/>
        </p:nvSpPr>
        <p:spPr>
          <a:xfrm>
            <a:off x="6172200" y="5394960"/>
            <a:ext cx="1466743" cy="164592"/>
          </a:xfrm>
          <a:prstGeom prst="rect">
            <a:avLst/>
          </a:prstGeom>
          <a:solidFill>
            <a:srgbClr val="E5B855"/>
          </a:solidFill>
          <a:ln w="12700">
            <a:solidFill>
              <a:srgbClr val="E5B855"/>
            </a:solidFill>
            <a:prstDash val="solid"/>
          </a:ln>
        </p:spPr>
      </p:sp>
      <p:sp>
        <p:nvSpPr>
          <p:cNvPr id="41" name="Text 39"/>
          <p:cNvSpPr/>
          <p:nvPr/>
        </p:nvSpPr>
        <p:spPr>
          <a:xfrm>
            <a:off x="10454335" y="5303520"/>
            <a:ext cx="1097280" cy="274320"/>
          </a:xfrm>
          <a:prstGeom prst="rect">
            <a:avLst/>
          </a:prstGeom>
          <a:noFill/>
          <a:ln/>
        </p:spPr>
        <p:txBody>
          <a:bodyPr wrap="square" lIns="0" tIns="0" rIns="0" bIns="0" rtlCol="0" anchor="ctr"/>
          <a:lstStyle/>
          <a:p>
            <a:pPr indent="0" marL="0">
              <a:buNone/>
            </a:pPr>
            <a:r>
              <a:rPr lang="en-US" sz="1000" i="1" dirty="0">
                <a:solidFill>
                  <a:srgbClr val="E5B855"/>
                </a:solidFill>
                <a:latin typeface="Calibri" pitchFamily="34" charset="0"/>
                <a:ea typeface="Calibri" pitchFamily="34" charset="-122"/>
                <a:cs typeface="Calibri" pitchFamily="34" charset="-120"/>
              </a:rPr>
              <a:t>Indirect</a:t>
            </a:r>
            <a:endParaRPr lang="en-US" sz="1000" dirty="0"/>
          </a:p>
        </p:txBody>
      </p:sp>
      <p:sp>
        <p:nvSpPr>
          <p:cNvPr id="42" name="Text 40"/>
          <p:cNvSpPr/>
          <p:nvPr/>
        </p:nvSpPr>
        <p:spPr>
          <a:xfrm>
            <a:off x="4937760" y="5669280"/>
            <a:ext cx="6385255" cy="457200"/>
          </a:xfrm>
          <a:prstGeom prst="rect">
            <a:avLst/>
          </a:prstGeom>
          <a:noFill/>
          <a:ln/>
        </p:spPr>
        <p:txBody>
          <a:bodyPr wrap="square" lIns="0" tIns="0" rIns="0" bIns="0" rtlCol="0" anchor="ctr"/>
          <a:lstStyle/>
          <a:p>
            <a:pPr indent="0" marL="0">
              <a:buNone/>
            </a:pPr>
            <a:r>
              <a:rPr lang="en-US" sz="1100" i="1" dirty="0">
                <a:solidFill>
                  <a:srgbClr val="5A6473"/>
                </a:solidFill>
                <a:latin typeface="Georgia" pitchFamily="34" charset="0"/>
                <a:ea typeface="Georgia" pitchFamily="34" charset="-122"/>
                <a:cs typeface="Georgia" pitchFamily="34" charset="-120"/>
              </a:rPr>
              <a:t>Strongest gains are in reliability and maintainability — quality attributes most directly tied to design and verification.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07  ·  COMPARISON</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08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TDD vs. traditional approaches</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Comparing test-first against test-after and waterfall-style verification across key dimensions.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2377440"/>
                <a:gridCol w="2907792"/>
                <a:gridCol w="2907792"/>
                <a:gridCol w="2898648"/>
              </a:tblGrid>
              <a:tr h="457200">
                <a:tc>
                  <a:txBody>
                    <a:bodyPr/>
                    <a:lstStyle/>
                    <a:p>
                      <a:pPr algn="ctr" indent="0" marL="0">
                        <a:buNone/>
                      </a:pPr>
                      <a:r>
                        <a:rPr lang="en-US" sz="1000" b="1" spc="200" kern="0" dirty="0">
                          <a:solidFill>
                            <a:srgbClr val="FFFFFF"/>
                          </a:solidFill>
                          <a:latin typeface="Consolas" pitchFamily="34" charset="0"/>
                          <a:ea typeface="Consolas" pitchFamily="34" charset="-122"/>
                          <a:cs typeface="Consolas" pitchFamily="34" charset="-120"/>
                        </a:rPr>
                        <a:t>DIMENSION</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DC4F4A"/>
                          </a:solidFill>
                          <a:latin typeface="Consolas" pitchFamily="34" charset="0"/>
                          <a:ea typeface="Consolas" pitchFamily="34" charset="-122"/>
                          <a:cs typeface="Consolas" pitchFamily="34" charset="-120"/>
                        </a:rPr>
                        <a:t>TEST-DRIVEN DEVELOPMENT</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3FA89A"/>
                          </a:solidFill>
                          <a:latin typeface="Consolas" pitchFamily="34" charset="0"/>
                          <a:ea typeface="Consolas" pitchFamily="34" charset="-122"/>
                          <a:cs typeface="Consolas" pitchFamily="34" charset="-120"/>
                        </a:rPr>
                        <a:t>TEST-AFTER DEVELOPMENT</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E5B855"/>
                          </a:solidFill>
                          <a:latin typeface="Consolas" pitchFamily="34" charset="0"/>
                          <a:ea typeface="Consolas" pitchFamily="34" charset="-122"/>
                          <a:cs typeface="Consolas" pitchFamily="34" charset="-120"/>
                        </a:rPr>
                        <a:t>WATERFALL / BIG-BANG TESTING</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When tests are written</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Before each unit of code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After implementation, per unit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After whole feature / phase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Feedback latency</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Seconds — per cycle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Minutes to hours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Days to weeks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Influence on design</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Strong — drives modularity</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Limited — design fixed first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None — design precedes tests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Defect-discovery cost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Lowest — found at write-time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Highest — late-stage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Coverage typically achieved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High &amp; meaningful</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Variable — depends on discipline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Often shallow on edge cases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Best-fit context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Agile, evolving systems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Mixed teams, brownfield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Stable, regulated, well-specified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08  ·  IN PRACTICE</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09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0E1B2D"/>
                </a:solidFill>
                <a:latin typeface="Georgia" pitchFamily="34" charset="0"/>
                <a:ea typeface="Georgia" pitchFamily="34" charset="-122"/>
                <a:cs typeface="Georgia" pitchFamily="34" charset="-120"/>
              </a:rPr>
              <a:t>Tools, ecosystems, and best practices</a:t>
            </a:r>
            <a:endParaRPr lang="en-US" sz="38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A small, mature tooling ecosystem — paired with disciplined habits — turns TDD into a sustainable team practice.</a:t>
            </a:r>
            <a:endParaRPr lang="en-US" sz="1400" dirty="0"/>
          </a:p>
        </p:txBody>
      </p:sp>
      <p:sp>
        <p:nvSpPr>
          <p:cNvPr id="7" name="Shape 5"/>
          <p:cNvSpPr/>
          <p:nvPr/>
        </p:nvSpPr>
        <p:spPr>
          <a:xfrm>
            <a:off x="548640" y="2606040"/>
            <a:ext cx="548640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914400" y="2834640"/>
            <a:ext cx="475488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COMMON FRAMEWORKS</a:t>
            </a:r>
            <a:endParaRPr lang="en-US" sz="1000" dirty="0"/>
          </a:p>
        </p:txBody>
      </p:sp>
      <p:sp>
        <p:nvSpPr>
          <p:cNvPr id="9" name="Text 7"/>
          <p:cNvSpPr/>
          <p:nvPr/>
        </p:nvSpPr>
        <p:spPr>
          <a:xfrm>
            <a:off x="914400" y="3154680"/>
            <a:ext cx="4754880" cy="457200"/>
          </a:xfrm>
          <a:prstGeom prst="rect">
            <a:avLst/>
          </a:prstGeom>
          <a:noFill/>
          <a:ln/>
        </p:spPr>
        <p:txBody>
          <a:bodyPr wrap="square" lIns="0" tIns="0" rIns="0" bIns="0" rtlCol="0" anchor="ctr"/>
          <a:lstStyle/>
          <a:p>
            <a:pPr indent="0" marL="0">
              <a:buNone/>
            </a:pPr>
            <a:r>
              <a:rPr lang="en-US" sz="1900" b="1" dirty="0">
                <a:solidFill>
                  <a:srgbClr val="0E1B2D"/>
                </a:solidFill>
                <a:latin typeface="Georgia" pitchFamily="34" charset="0"/>
                <a:ea typeface="Georgia" pitchFamily="34" charset="-122"/>
                <a:cs typeface="Georgia" pitchFamily="34" charset="-120"/>
              </a:rPr>
              <a:t>Tooling by language</a:t>
            </a:r>
            <a:endParaRPr lang="en-US" sz="1900" dirty="0"/>
          </a:p>
        </p:txBody>
      </p:sp>
      <p:sp>
        <p:nvSpPr>
          <p:cNvPr id="10" name="Text 8"/>
          <p:cNvSpPr/>
          <p:nvPr/>
        </p:nvSpPr>
        <p:spPr>
          <a:xfrm>
            <a:off x="914400" y="3749040"/>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Java</a:t>
            </a:r>
            <a:endParaRPr lang="en-US" sz="1200" dirty="0"/>
          </a:p>
        </p:txBody>
      </p:sp>
      <p:sp>
        <p:nvSpPr>
          <p:cNvPr id="11" name="Text 9"/>
          <p:cNvSpPr/>
          <p:nvPr/>
        </p:nvSpPr>
        <p:spPr>
          <a:xfrm>
            <a:off x="2743200" y="3749040"/>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JUnit 5, TestNG, Mockito, AssertJ</a:t>
            </a:r>
            <a:endParaRPr lang="en-US" sz="1100" dirty="0"/>
          </a:p>
        </p:txBody>
      </p:sp>
      <p:sp>
        <p:nvSpPr>
          <p:cNvPr id="12" name="Text 10"/>
          <p:cNvSpPr/>
          <p:nvPr/>
        </p:nvSpPr>
        <p:spPr>
          <a:xfrm>
            <a:off x="914400" y="4078224"/>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Python</a:t>
            </a:r>
            <a:endParaRPr lang="en-US" sz="1200" dirty="0"/>
          </a:p>
        </p:txBody>
      </p:sp>
      <p:sp>
        <p:nvSpPr>
          <p:cNvPr id="13" name="Text 11"/>
          <p:cNvSpPr/>
          <p:nvPr/>
        </p:nvSpPr>
        <p:spPr>
          <a:xfrm>
            <a:off x="2743200" y="4078224"/>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pytest, unittest, hypothesis</a:t>
            </a:r>
            <a:endParaRPr lang="en-US" sz="1100" dirty="0"/>
          </a:p>
        </p:txBody>
      </p:sp>
      <p:sp>
        <p:nvSpPr>
          <p:cNvPr id="14" name="Text 12"/>
          <p:cNvSpPr/>
          <p:nvPr/>
        </p:nvSpPr>
        <p:spPr>
          <a:xfrm>
            <a:off x="914400" y="4407408"/>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JavaScript / TS</a:t>
            </a:r>
            <a:endParaRPr lang="en-US" sz="1200" dirty="0"/>
          </a:p>
        </p:txBody>
      </p:sp>
      <p:sp>
        <p:nvSpPr>
          <p:cNvPr id="15" name="Text 13"/>
          <p:cNvSpPr/>
          <p:nvPr/>
        </p:nvSpPr>
        <p:spPr>
          <a:xfrm>
            <a:off x="2743200" y="4407408"/>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Jest, Vitest, Mocha + Chai, Testing Library</a:t>
            </a:r>
            <a:endParaRPr lang="en-US" sz="1100" dirty="0"/>
          </a:p>
        </p:txBody>
      </p:sp>
      <p:sp>
        <p:nvSpPr>
          <p:cNvPr id="16" name="Text 14"/>
          <p:cNvSpPr/>
          <p:nvPr/>
        </p:nvSpPr>
        <p:spPr>
          <a:xfrm>
            <a:off x="914400" y="4736592"/>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C# / .NET</a:t>
            </a:r>
            <a:endParaRPr lang="en-US" sz="1200" dirty="0"/>
          </a:p>
        </p:txBody>
      </p:sp>
      <p:sp>
        <p:nvSpPr>
          <p:cNvPr id="17" name="Text 15"/>
          <p:cNvSpPr/>
          <p:nvPr/>
        </p:nvSpPr>
        <p:spPr>
          <a:xfrm>
            <a:off x="2743200" y="4736592"/>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xUnit, NUnit, MSTest, Moq</a:t>
            </a:r>
            <a:endParaRPr lang="en-US" sz="1100" dirty="0"/>
          </a:p>
        </p:txBody>
      </p:sp>
      <p:sp>
        <p:nvSpPr>
          <p:cNvPr id="18" name="Text 16"/>
          <p:cNvSpPr/>
          <p:nvPr/>
        </p:nvSpPr>
        <p:spPr>
          <a:xfrm>
            <a:off x="914400" y="5065776"/>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C / C++</a:t>
            </a:r>
            <a:endParaRPr lang="en-US" sz="1200" dirty="0"/>
          </a:p>
        </p:txBody>
      </p:sp>
      <p:sp>
        <p:nvSpPr>
          <p:cNvPr id="19" name="Text 17"/>
          <p:cNvSpPr/>
          <p:nvPr/>
        </p:nvSpPr>
        <p:spPr>
          <a:xfrm>
            <a:off x="2743200" y="5065776"/>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Google Test, Catch2, CppUTest</a:t>
            </a:r>
            <a:endParaRPr lang="en-US" sz="1100" dirty="0"/>
          </a:p>
        </p:txBody>
      </p:sp>
      <p:sp>
        <p:nvSpPr>
          <p:cNvPr id="20" name="Text 18"/>
          <p:cNvSpPr/>
          <p:nvPr/>
        </p:nvSpPr>
        <p:spPr>
          <a:xfrm>
            <a:off x="914400" y="5394960"/>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Ruby / Go</a:t>
            </a:r>
            <a:endParaRPr lang="en-US" sz="1200" dirty="0"/>
          </a:p>
        </p:txBody>
      </p:sp>
      <p:sp>
        <p:nvSpPr>
          <p:cNvPr id="21" name="Text 19"/>
          <p:cNvSpPr/>
          <p:nvPr/>
        </p:nvSpPr>
        <p:spPr>
          <a:xfrm>
            <a:off x="2743200" y="5394960"/>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RSpec, Minitest · Go testing, Testify</a:t>
            </a:r>
            <a:endParaRPr lang="en-US" sz="1100" dirty="0"/>
          </a:p>
        </p:txBody>
      </p:sp>
      <p:sp>
        <p:nvSpPr>
          <p:cNvPr id="22" name="Text 20"/>
          <p:cNvSpPr/>
          <p:nvPr/>
        </p:nvSpPr>
        <p:spPr>
          <a:xfrm>
            <a:off x="914400" y="5760720"/>
            <a:ext cx="4754880" cy="365760"/>
          </a:xfrm>
          <a:prstGeom prst="rect">
            <a:avLst/>
          </a:prstGeom>
          <a:noFill/>
          <a:ln/>
        </p:spPr>
        <p:txBody>
          <a:bodyPr wrap="square" lIns="0" tIns="0" rIns="0" bIns="0" rtlCol="0" anchor="ctr"/>
          <a:lstStyle/>
          <a:p>
            <a:pPr indent="0" marL="0">
              <a:buNone/>
            </a:pPr>
            <a:r>
              <a:rPr lang="en-US" sz="1000" i="1" dirty="0">
                <a:solidFill>
                  <a:srgbClr val="5A6473"/>
                </a:solidFill>
                <a:latin typeface="Georgia" pitchFamily="34" charset="0"/>
                <a:ea typeface="Georgia" pitchFamily="34" charset="-122"/>
                <a:cs typeface="Georgia" pitchFamily="34" charset="-120"/>
              </a:rPr>
              <a:t>Most modern IDEs (IntelliJ, VS Code, Visual Studio) include test runners with sub-second feedback.</a:t>
            </a:r>
            <a:endParaRPr lang="en-US" sz="1000" dirty="0"/>
          </a:p>
        </p:txBody>
      </p:sp>
      <p:sp>
        <p:nvSpPr>
          <p:cNvPr id="23" name="Shape 21"/>
          <p:cNvSpPr/>
          <p:nvPr/>
        </p:nvSpPr>
        <p:spPr>
          <a:xfrm>
            <a:off x="6263640" y="2606040"/>
            <a:ext cx="5379415" cy="3657600"/>
          </a:xfrm>
          <a:prstGeom prst="rect">
            <a:avLst/>
          </a:prstGeom>
          <a:solidFill>
            <a:srgbClr val="112237"/>
          </a:solidFill>
          <a:ln w="12700">
            <a:solidFill>
              <a:srgbClr val="112237"/>
            </a:solidFill>
            <a:prstDash val="solid"/>
          </a:ln>
          <a:effectLst>
            <a:outerShdw sx="100000" sy="100000" kx="0" ky="0" algn="bl" rotWithShape="0" blurRad="76200" dist="25400" dir="5400000">
              <a:srgbClr val="000000">
                <a:alpha val="5000"/>
              </a:srgbClr>
            </a:outerShdw>
          </a:effectLst>
        </p:spPr>
      </p:sp>
      <p:sp>
        <p:nvSpPr>
          <p:cNvPr id="24" name="Text 22"/>
          <p:cNvSpPr/>
          <p:nvPr/>
        </p:nvSpPr>
        <p:spPr>
          <a:xfrm>
            <a:off x="6629400" y="2834640"/>
            <a:ext cx="4647895"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BEST PRACTICES</a:t>
            </a:r>
            <a:endParaRPr lang="en-US" sz="1000" dirty="0"/>
          </a:p>
        </p:txBody>
      </p:sp>
      <p:sp>
        <p:nvSpPr>
          <p:cNvPr id="25" name="Text 23"/>
          <p:cNvSpPr/>
          <p:nvPr/>
        </p:nvSpPr>
        <p:spPr>
          <a:xfrm>
            <a:off x="6629400" y="3154680"/>
            <a:ext cx="4647895"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Habits of effective TDD teams</a:t>
            </a:r>
            <a:endParaRPr lang="en-US" sz="1900" dirty="0"/>
          </a:p>
        </p:txBody>
      </p:sp>
      <p:sp>
        <p:nvSpPr>
          <p:cNvPr id="26" name="Text 24"/>
          <p:cNvSpPr/>
          <p:nvPr/>
        </p:nvSpPr>
        <p:spPr>
          <a:xfrm>
            <a:off x="6629400" y="3749040"/>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6949440" y="3749040"/>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Keep cycles short. </a:t>
            </a:r>
            <a:pPr indent="0" marL="0">
              <a:buNone/>
            </a:pPr>
            <a:r>
              <a:rPr lang="en-US" sz="1050" dirty="0">
                <a:solidFill>
                  <a:srgbClr val="C8D5E0"/>
                </a:solidFill>
                <a:latin typeface="Calibri" pitchFamily="34" charset="0"/>
                <a:ea typeface="Calibri" pitchFamily="34" charset="-122"/>
                <a:cs typeface="Calibri" pitchFamily="34" charset="-120"/>
              </a:rPr>
              <a:t>Aim for 1–5 minute cycles. If a step feels long, the test is too big.</a:t>
            </a:r>
            <a:endParaRPr lang="en-US" sz="1050" dirty="0"/>
          </a:p>
        </p:txBody>
      </p:sp>
      <p:sp>
        <p:nvSpPr>
          <p:cNvPr id="28" name="Text 26"/>
          <p:cNvSpPr/>
          <p:nvPr/>
        </p:nvSpPr>
        <p:spPr>
          <a:xfrm>
            <a:off x="6629400" y="4133088"/>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6949440" y="4133088"/>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One assertion, one behaviour. </a:t>
            </a:r>
            <a:pPr indent="0" marL="0">
              <a:buNone/>
            </a:pPr>
            <a:r>
              <a:rPr lang="en-US" sz="1050" dirty="0">
                <a:solidFill>
                  <a:srgbClr val="C8D5E0"/>
                </a:solidFill>
                <a:latin typeface="Calibri" pitchFamily="34" charset="0"/>
                <a:ea typeface="Calibri" pitchFamily="34" charset="-122"/>
                <a:cs typeface="Calibri" pitchFamily="34" charset="-120"/>
              </a:rPr>
              <a:t>Tests should fail for exactly one reason — diagnostics stay clear.</a:t>
            </a:r>
            <a:endParaRPr lang="en-US" sz="1050" dirty="0"/>
          </a:p>
        </p:txBody>
      </p:sp>
      <p:sp>
        <p:nvSpPr>
          <p:cNvPr id="30" name="Text 28"/>
          <p:cNvSpPr/>
          <p:nvPr/>
        </p:nvSpPr>
        <p:spPr>
          <a:xfrm>
            <a:off x="6629400" y="4517136"/>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949440" y="4517136"/>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Test behaviour, not implementation. </a:t>
            </a:r>
            <a:pPr indent="0" marL="0">
              <a:buNone/>
            </a:pPr>
            <a:r>
              <a:rPr lang="en-US" sz="1050" dirty="0">
                <a:solidFill>
                  <a:srgbClr val="C8D5E0"/>
                </a:solidFill>
                <a:latin typeface="Calibri" pitchFamily="34" charset="0"/>
                <a:ea typeface="Calibri" pitchFamily="34" charset="-122"/>
                <a:cs typeface="Calibri" pitchFamily="34" charset="-120"/>
              </a:rPr>
              <a:t>Avoid mocking what you do not own; assert outcomes, not internals.</a:t>
            </a:r>
            <a:endParaRPr lang="en-US" sz="1050" dirty="0"/>
          </a:p>
        </p:txBody>
      </p:sp>
      <p:sp>
        <p:nvSpPr>
          <p:cNvPr id="32" name="Text 30"/>
          <p:cNvSpPr/>
          <p:nvPr/>
        </p:nvSpPr>
        <p:spPr>
          <a:xfrm>
            <a:off x="6629400" y="4901184"/>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6949440" y="4901184"/>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Run tests on every change. </a:t>
            </a:r>
            <a:pPr indent="0" marL="0">
              <a:buNone/>
            </a:pPr>
            <a:r>
              <a:rPr lang="en-US" sz="1050" dirty="0">
                <a:solidFill>
                  <a:srgbClr val="C8D5E0"/>
                </a:solidFill>
                <a:latin typeface="Calibri" pitchFamily="34" charset="0"/>
                <a:ea typeface="Calibri" pitchFamily="34" charset="-122"/>
                <a:cs typeface="Calibri" pitchFamily="34" charset="-120"/>
              </a:rPr>
              <a:t>Integrate with CI — broken tests must block merging.</a:t>
            </a:r>
            <a:endParaRPr lang="en-US" sz="1050" dirty="0"/>
          </a:p>
        </p:txBody>
      </p:sp>
      <p:sp>
        <p:nvSpPr>
          <p:cNvPr id="34" name="Text 32"/>
          <p:cNvSpPr/>
          <p:nvPr/>
        </p:nvSpPr>
        <p:spPr>
          <a:xfrm>
            <a:off x="6629400" y="5285232"/>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6949440" y="5285232"/>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Refactor tests too. </a:t>
            </a:r>
            <a:pPr indent="0" marL="0">
              <a:buNone/>
            </a:pPr>
            <a:r>
              <a:rPr lang="en-US" sz="1050" dirty="0">
                <a:solidFill>
                  <a:srgbClr val="C8D5E0"/>
                </a:solidFill>
                <a:latin typeface="Calibri" pitchFamily="34" charset="0"/>
                <a:ea typeface="Calibri" pitchFamily="34" charset="-122"/>
                <a:cs typeface="Calibri" pitchFamily="34" charset="-120"/>
              </a:rPr>
              <a:t>The test suite is production code — keep it readable and DRY.</a:t>
            </a:r>
            <a:endParaRPr lang="en-US" sz="1050" dirty="0"/>
          </a:p>
        </p:txBody>
      </p:sp>
      <p:sp>
        <p:nvSpPr>
          <p:cNvPr id="36" name="Text 34"/>
          <p:cNvSpPr/>
          <p:nvPr/>
        </p:nvSpPr>
        <p:spPr>
          <a:xfrm>
            <a:off x="6629400" y="5669280"/>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6949440" y="5669280"/>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Combine with pair programming. </a:t>
            </a:r>
            <a:pPr indent="0" marL="0">
              <a:buNone/>
            </a:pPr>
            <a:r>
              <a:rPr lang="en-US" sz="1050" dirty="0">
                <a:solidFill>
                  <a:srgbClr val="C8D5E0"/>
                </a:solidFill>
                <a:latin typeface="Calibri" pitchFamily="34" charset="0"/>
                <a:ea typeface="Calibri" pitchFamily="34" charset="-122"/>
                <a:cs typeface="Calibri" pitchFamily="34" charset="-120"/>
              </a:rPr>
              <a:t>Drives shared ownership of design and prevents test-skipping.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2D"/>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A1525"/>
          </a:solidFill>
          <a:ln w="12700">
            <a:solidFill>
              <a:srgbClr val="0A1525"/>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09  ·  WRAP-UP</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10 / 10</a:t>
            </a:r>
            <a:endParaRPr lang="en-US" sz="900" dirty="0"/>
          </a:p>
        </p:txBody>
      </p:sp>
      <p:sp>
        <p:nvSpPr>
          <p:cNvPr id="5" name="Shape 3"/>
          <p:cNvSpPr/>
          <p:nvPr/>
        </p:nvSpPr>
        <p:spPr>
          <a:xfrm>
            <a:off x="502920" y="777240"/>
            <a:ext cx="64008" cy="2194560"/>
          </a:xfrm>
          <a:prstGeom prst="rect">
            <a:avLst/>
          </a:prstGeom>
          <a:solidFill>
            <a:srgbClr val="DC4F4A"/>
          </a:solidFill>
          <a:ln w="12700">
            <a:solidFill>
              <a:srgbClr val="DC4F4A"/>
            </a:solidFill>
            <a:prstDash val="solid"/>
          </a:ln>
        </p:spPr>
      </p:sp>
      <p:sp>
        <p:nvSpPr>
          <p:cNvPr id="6" name="Text 4"/>
          <p:cNvSpPr/>
          <p:nvPr/>
        </p:nvSpPr>
        <p:spPr>
          <a:xfrm>
            <a:off x="777240" y="777240"/>
            <a:ext cx="8229600" cy="10058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Conclusion</a:t>
            </a:r>
            <a:endParaRPr lang="en-US" sz="5600" dirty="0"/>
          </a:p>
        </p:txBody>
      </p:sp>
      <p:sp>
        <p:nvSpPr>
          <p:cNvPr id="7" name="Text 5"/>
          <p:cNvSpPr/>
          <p:nvPr/>
        </p:nvSpPr>
        <p:spPr>
          <a:xfrm>
            <a:off x="777240" y="1874520"/>
            <a:ext cx="10058400" cy="1188720"/>
          </a:xfrm>
          <a:prstGeom prst="rect">
            <a:avLst/>
          </a:prstGeom>
          <a:noFill/>
          <a:ln/>
        </p:spPr>
        <p:txBody>
          <a:bodyPr wrap="square" lIns="0" tIns="0" rIns="0" bIns="0" rtlCol="0" anchor="ctr"/>
          <a:lstStyle/>
          <a:p>
            <a:pPr indent="0" marL="0">
              <a:buNone/>
            </a:pPr>
            <a:r>
              <a:rPr lang="en-US" sz="1900" i="1" dirty="0">
                <a:solidFill>
                  <a:srgbClr val="DCE2EA"/>
                </a:solidFill>
                <a:latin typeface="Georgia" pitchFamily="34" charset="0"/>
                <a:ea typeface="Georgia" pitchFamily="34" charset="-122"/>
                <a:cs typeface="Georgia" pitchFamily="34" charset="-120"/>
              </a:rPr>
              <a:t>TDD is foremost a design discipline — its lasting value is not the tests</a:t>
            </a:r>
            <a:endParaRPr lang="en-US" sz="1900" dirty="0"/>
          </a:p>
          <a:p>
            <a:pPr indent="0" marL="0">
              <a:buNone/>
            </a:pPr>
            <a:r>
              <a:rPr lang="en-US" sz="1900" i="1" dirty="0">
                <a:solidFill>
                  <a:srgbClr val="DCE2EA"/>
                </a:solidFill>
                <a:latin typeface="Georgia" pitchFamily="34" charset="0"/>
                <a:ea typeface="Georgia" pitchFamily="34" charset="-122"/>
                <a:cs typeface="Georgia" pitchFamily="34" charset="-120"/>
              </a:rPr>
              <a:t>it produces, but the careful, incremental thinking it forces on every</a:t>
            </a:r>
            <a:endParaRPr lang="en-US" sz="1900" dirty="0"/>
          </a:p>
          <a:p>
            <a:pPr indent="0" marL="0">
              <a:buNone/>
            </a:pPr>
            <a:r>
              <a:rPr lang="en-US" sz="1900" i="1" dirty="0">
                <a:solidFill>
                  <a:srgbClr val="DCE2EA"/>
                </a:solidFill>
                <a:latin typeface="Georgia" pitchFamily="34" charset="0"/>
                <a:ea typeface="Georgia" pitchFamily="34" charset="-122"/>
                <a:cs typeface="Georgia" pitchFamily="34" charset="-120"/>
              </a:rPr>
              <a:t>line of code.</a:t>
            </a:r>
            <a:endParaRPr lang="en-US" sz="1900" dirty="0"/>
          </a:p>
        </p:txBody>
      </p:sp>
      <p:sp>
        <p:nvSpPr>
          <p:cNvPr id="8" name="Shape 6"/>
          <p:cNvSpPr/>
          <p:nvPr/>
        </p:nvSpPr>
        <p:spPr>
          <a:xfrm>
            <a:off x="548640" y="3520440"/>
            <a:ext cx="3657600" cy="1417320"/>
          </a:xfrm>
          <a:prstGeom prst="rect">
            <a:avLst/>
          </a:prstGeom>
          <a:solidFill>
            <a:srgbClr val="0A1525"/>
          </a:solidFill>
          <a:ln w="12700">
            <a:solidFill>
              <a:srgbClr val="0A1525"/>
            </a:solidFill>
            <a:prstDash val="solid"/>
          </a:ln>
        </p:spPr>
      </p:sp>
      <p:sp>
        <p:nvSpPr>
          <p:cNvPr id="9" name="Shape 7"/>
          <p:cNvSpPr/>
          <p:nvPr/>
        </p:nvSpPr>
        <p:spPr>
          <a:xfrm>
            <a:off x="548640" y="3520440"/>
            <a:ext cx="54864" cy="1417320"/>
          </a:xfrm>
          <a:prstGeom prst="rect">
            <a:avLst/>
          </a:prstGeom>
          <a:solidFill>
            <a:srgbClr val="DC4F4A"/>
          </a:solidFill>
          <a:ln w="12700">
            <a:solidFill>
              <a:srgbClr val="DC4F4A"/>
            </a:solidFill>
            <a:prstDash val="solid"/>
          </a:ln>
        </p:spPr>
      </p:sp>
      <p:sp>
        <p:nvSpPr>
          <p:cNvPr id="10" name="Text 8"/>
          <p:cNvSpPr/>
          <p:nvPr/>
        </p:nvSpPr>
        <p:spPr>
          <a:xfrm>
            <a:off x="822960" y="3703320"/>
            <a:ext cx="310896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TAKEAWAY 01</a:t>
            </a:r>
            <a:endParaRPr lang="en-US" sz="1000" dirty="0"/>
          </a:p>
        </p:txBody>
      </p:sp>
      <p:sp>
        <p:nvSpPr>
          <p:cNvPr id="11" name="Text 9"/>
          <p:cNvSpPr/>
          <p:nvPr/>
        </p:nvSpPr>
        <p:spPr>
          <a:xfrm>
            <a:off x="82296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Test-first thinking shapes designs that are simpler, smaller, and more decoupled.</a:t>
            </a:r>
            <a:endParaRPr lang="en-US" sz="1200" dirty="0"/>
          </a:p>
        </p:txBody>
      </p:sp>
      <p:sp>
        <p:nvSpPr>
          <p:cNvPr id="12" name="Shape 10"/>
          <p:cNvSpPr/>
          <p:nvPr/>
        </p:nvSpPr>
        <p:spPr>
          <a:xfrm>
            <a:off x="4389120" y="3520440"/>
            <a:ext cx="3657600" cy="1417320"/>
          </a:xfrm>
          <a:prstGeom prst="rect">
            <a:avLst/>
          </a:prstGeom>
          <a:solidFill>
            <a:srgbClr val="0A1525"/>
          </a:solidFill>
          <a:ln w="12700">
            <a:solidFill>
              <a:srgbClr val="0A1525"/>
            </a:solidFill>
            <a:prstDash val="solid"/>
          </a:ln>
        </p:spPr>
      </p:sp>
      <p:sp>
        <p:nvSpPr>
          <p:cNvPr id="13" name="Shape 11"/>
          <p:cNvSpPr/>
          <p:nvPr/>
        </p:nvSpPr>
        <p:spPr>
          <a:xfrm>
            <a:off x="4389120" y="3520440"/>
            <a:ext cx="54864" cy="1417320"/>
          </a:xfrm>
          <a:prstGeom prst="rect">
            <a:avLst/>
          </a:prstGeom>
          <a:solidFill>
            <a:srgbClr val="3FA89A"/>
          </a:solidFill>
          <a:ln w="12700">
            <a:solidFill>
              <a:srgbClr val="3FA89A"/>
            </a:solidFill>
            <a:prstDash val="solid"/>
          </a:ln>
        </p:spPr>
      </p:sp>
      <p:sp>
        <p:nvSpPr>
          <p:cNvPr id="14" name="Text 12"/>
          <p:cNvSpPr/>
          <p:nvPr/>
        </p:nvSpPr>
        <p:spPr>
          <a:xfrm>
            <a:off x="4663440" y="3703320"/>
            <a:ext cx="3108960" cy="274320"/>
          </a:xfrm>
          <a:prstGeom prst="rect">
            <a:avLst/>
          </a:prstGeom>
          <a:noFill/>
          <a:ln/>
        </p:spPr>
        <p:txBody>
          <a:bodyPr wrap="square" lIns="0" tIns="0" rIns="0" bIns="0" rtlCol="0" anchor="ctr"/>
          <a:lstStyle/>
          <a:p>
            <a:pPr indent="0" marL="0">
              <a:buNone/>
            </a:pPr>
            <a:r>
              <a:rPr lang="en-US" sz="1000" b="1" spc="300" kern="0" dirty="0">
                <a:solidFill>
                  <a:srgbClr val="3FA89A"/>
                </a:solidFill>
                <a:latin typeface="Consolas" pitchFamily="34" charset="0"/>
                <a:ea typeface="Consolas" pitchFamily="34" charset="-122"/>
                <a:cs typeface="Consolas" pitchFamily="34" charset="-120"/>
              </a:rPr>
              <a:t>TAKEAWAY 02</a:t>
            </a:r>
            <a:endParaRPr lang="en-US" sz="1000" dirty="0"/>
          </a:p>
        </p:txBody>
      </p:sp>
      <p:sp>
        <p:nvSpPr>
          <p:cNvPr id="15" name="Text 13"/>
          <p:cNvSpPr/>
          <p:nvPr/>
        </p:nvSpPr>
        <p:spPr>
          <a:xfrm>
            <a:off x="466344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Empirical evidence shows fewer defects at modest upfront cost, paid back in maintenance.</a:t>
            </a:r>
            <a:endParaRPr lang="en-US" sz="1200" dirty="0"/>
          </a:p>
        </p:txBody>
      </p:sp>
      <p:sp>
        <p:nvSpPr>
          <p:cNvPr id="16" name="Shape 14"/>
          <p:cNvSpPr/>
          <p:nvPr/>
        </p:nvSpPr>
        <p:spPr>
          <a:xfrm>
            <a:off x="8229600" y="3520440"/>
            <a:ext cx="3657600" cy="1417320"/>
          </a:xfrm>
          <a:prstGeom prst="rect">
            <a:avLst/>
          </a:prstGeom>
          <a:solidFill>
            <a:srgbClr val="0A1525"/>
          </a:solidFill>
          <a:ln w="12700">
            <a:solidFill>
              <a:srgbClr val="0A1525"/>
            </a:solidFill>
            <a:prstDash val="solid"/>
          </a:ln>
        </p:spPr>
      </p:sp>
      <p:sp>
        <p:nvSpPr>
          <p:cNvPr id="17" name="Shape 15"/>
          <p:cNvSpPr/>
          <p:nvPr/>
        </p:nvSpPr>
        <p:spPr>
          <a:xfrm>
            <a:off x="8229600" y="3520440"/>
            <a:ext cx="54864" cy="1417320"/>
          </a:xfrm>
          <a:prstGeom prst="rect">
            <a:avLst/>
          </a:prstGeom>
          <a:solidFill>
            <a:srgbClr val="E5B855"/>
          </a:solidFill>
          <a:ln w="12700">
            <a:solidFill>
              <a:srgbClr val="E5B855"/>
            </a:solidFill>
            <a:prstDash val="solid"/>
          </a:ln>
        </p:spPr>
      </p:sp>
      <p:sp>
        <p:nvSpPr>
          <p:cNvPr id="18" name="Text 16"/>
          <p:cNvSpPr/>
          <p:nvPr/>
        </p:nvSpPr>
        <p:spPr>
          <a:xfrm>
            <a:off x="8503920" y="3703320"/>
            <a:ext cx="3108960"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TAKEAWAY 03</a:t>
            </a:r>
            <a:endParaRPr lang="en-US" sz="1000" dirty="0"/>
          </a:p>
        </p:txBody>
      </p:sp>
      <p:sp>
        <p:nvSpPr>
          <p:cNvPr id="19" name="Text 17"/>
          <p:cNvSpPr/>
          <p:nvPr/>
        </p:nvSpPr>
        <p:spPr>
          <a:xfrm>
            <a:off x="850392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TDD complements, never replaces, code review and broader testing strategies.</a:t>
            </a:r>
            <a:endParaRPr lang="en-US" sz="1200" dirty="0"/>
          </a:p>
        </p:txBody>
      </p:sp>
      <p:sp>
        <p:nvSpPr>
          <p:cNvPr id="20" name="Text 18"/>
          <p:cNvSpPr/>
          <p:nvPr/>
        </p:nvSpPr>
        <p:spPr>
          <a:xfrm>
            <a:off x="548640" y="5212080"/>
            <a:ext cx="45720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REFERENCES</a:t>
            </a:r>
            <a:endParaRPr lang="en-US" sz="1000" dirty="0"/>
          </a:p>
        </p:txBody>
      </p:sp>
      <p:sp>
        <p:nvSpPr>
          <p:cNvPr id="21" name="Text 19"/>
          <p:cNvSpPr/>
          <p:nvPr/>
        </p:nvSpPr>
        <p:spPr>
          <a:xfrm>
            <a:off x="548640" y="5532120"/>
            <a:ext cx="10972800" cy="914400"/>
          </a:xfrm>
          <a:prstGeom prst="rect">
            <a:avLst/>
          </a:prstGeom>
          <a:noFill/>
          <a:ln/>
        </p:spPr>
        <p:txBody>
          <a:bodyPr wrap="square" lIns="0" tIns="0" rIns="0" bIns="0" rtlCol="0" anchor="t"/>
          <a:lstStyle/>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[1]  Beck, K. (2003). Test-Driven Development: By Example. Addison-Wesley.</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[2]  Nagappan, N., Maximilien, E. M., Bhat, T., &amp; Williams, L. (2008). Realizing quality improvement through test-driven development. Empirical Software Engineering, 13(3), 289–302.</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[3]  Martin, R. C. (2008). Clean Code: A Handbook of Agile Software Craftsmanship. Prentice Hall.</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[4]  Freeman, S., &amp; Pryce, N. (2009). Growing Object-Oriented Software, Guided by Tests. Addison-Wesley.</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[5]  ISO/IEC 25010:2011. Systems and software engineering — Systems and software Quality Requirements and Evaluation (SQuaRE).</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[6]  Erdogmus, H., Morisio, M., &amp; Torchiano, M. (2005). On the effectiveness of the test-first approach to programming. IEEE TSE, 31(3), 226–237.</a:t>
            </a:r>
            <a:endParaRPr lang="en-US" sz="900" dirty="0"/>
          </a:p>
        </p:txBody>
      </p:sp>
      <p:sp>
        <p:nvSpPr>
          <p:cNvPr id="22" name="Shape 20"/>
          <p:cNvSpPr/>
          <p:nvPr/>
        </p:nvSpPr>
        <p:spPr>
          <a:xfrm>
            <a:off x="548640" y="6537960"/>
            <a:ext cx="640080" cy="0"/>
          </a:xfrm>
          <a:prstGeom prst="line">
            <a:avLst/>
          </a:prstGeom>
          <a:noFill/>
          <a:ln w="19050">
            <a:solidFill>
              <a:srgbClr val="DC4F4A"/>
            </a:solidFill>
            <a:prstDash val="solid"/>
          </a:ln>
        </p:spPr>
      </p:sp>
      <p:sp>
        <p:nvSpPr>
          <p:cNvPr id="23" name="Text 21"/>
          <p:cNvSpPr/>
          <p:nvPr/>
        </p:nvSpPr>
        <p:spPr>
          <a:xfrm>
            <a:off x="548640" y="6601968"/>
            <a:ext cx="10972800" cy="228600"/>
          </a:xfrm>
          <a:prstGeom prst="rect">
            <a:avLst/>
          </a:prstGeom>
          <a:noFill/>
          <a:ln/>
        </p:spPr>
        <p:txBody>
          <a:bodyPr wrap="square" lIns="0" tIns="0" rIns="0" bIns="0" rtlCol="0" anchor="ctr"/>
          <a:lstStyle/>
          <a:p>
            <a:pPr indent="0" marL="0">
              <a:buNone/>
            </a:pPr>
            <a:r>
              <a:rPr lang="en-US" sz="800" spc="200" kern="0" dirty="0">
                <a:solidFill>
                  <a:srgbClr val="8B95A6"/>
                </a:solidFill>
                <a:latin typeface="Consolas" pitchFamily="34" charset="0"/>
                <a:ea typeface="Consolas" pitchFamily="34" charset="-122"/>
                <a:cs typeface="Consolas" pitchFamily="34" charset="-120"/>
              </a:rPr>
              <a:t>University of Sarajevo  ·  Yasin Benek  ·  Erdinç Taha Diker  ·  Yiğit Dilik  ·  Rohat Demir  ·  Eren Kaman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Test-Driven Development</dc:title>
  <dc:subject>PptxGenJS Presentation</dc:subject>
  <dc:creator>University of Sarajevo</dc:creator>
  <cp:lastModifiedBy>University of Sarajevo</cp:lastModifiedBy>
  <cp:revision>1</cp:revision>
  <dcterms:created xsi:type="dcterms:W3CDTF">2026-05-09T20:01:03Z</dcterms:created>
  <dcterms:modified xsi:type="dcterms:W3CDTF">2026-05-09T20:01:03Z</dcterms:modified>
</cp:coreProperties>
</file>